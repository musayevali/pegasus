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c16b5784784e84" /><Relationship Type="http://schemas.openxmlformats.org/officeDocument/2006/relationships/extended-properties" Target="/docProps/app.xml" Id="Rf82c5c87861f4cdc" /><Relationship Type="http://schemas.openxmlformats.org/officeDocument/2006/relationships/officeDocument" Target="/ppt/presentation.xml" Id="R7f6a392cf25f4ffe" /></Relationships>
</file>

<file path=ppt/presentation.xml><?xml version="1.0" encoding="utf-8"?>
<p:presentation xmlns:p="http://schemas.openxmlformats.org/presentationml/2006/main">
  <p:sldMasterIdLst>
    <p:sldMasterId xmlns:r="http://schemas.openxmlformats.org/officeDocument/2006/relationships" id="2147483648" r:id="R7332067b64c94bc8"/>
  </p:sldMasterIdLst>
  <p:notesMasterIdLst>
    <p:notesMasterId xmlns:r="http://schemas.openxmlformats.org/officeDocument/2006/relationships" r:id="Rf92c460e245e44fc"/>
  </p:notesMasterIdLst>
  <p:sldIdLst>
    <p:sldId xmlns:r="http://schemas.openxmlformats.org/officeDocument/2006/relationships" id="256" r:id="R7386d510a73e4208"/>
    <p:sldId xmlns:r="http://schemas.openxmlformats.org/officeDocument/2006/relationships" id="257" r:id="Rb9b40b3c1fbb481f"/>
    <p:sldId xmlns:r="http://schemas.openxmlformats.org/officeDocument/2006/relationships" id="258" r:id="R053926c9bffa446d"/>
    <p:sldId xmlns:r="http://schemas.openxmlformats.org/officeDocument/2006/relationships" id="259" r:id="R5e53934d9a794ef2"/>
    <p:sldId xmlns:r="http://schemas.openxmlformats.org/officeDocument/2006/relationships" id="260" r:id="Rdc4c1d0028894d19"/>
    <p:sldId xmlns:r="http://schemas.openxmlformats.org/officeDocument/2006/relationships" id="261" r:id="Rb3214445409a4f2f"/>
    <p:sldId xmlns:r="http://schemas.openxmlformats.org/officeDocument/2006/relationships" id="262" r:id="Rf5d0178b035649d0"/>
    <p:sldId xmlns:r="http://schemas.openxmlformats.org/officeDocument/2006/relationships" id="263" r:id="R55263ab582ea404f"/>
    <p:sldId xmlns:r="http://schemas.openxmlformats.org/officeDocument/2006/relationships" id="264" r:id="Rfdb1e20d9dbc4310"/>
    <p:sldId xmlns:r="http://schemas.openxmlformats.org/officeDocument/2006/relationships" id="265" r:id="R580b8dfec08a46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5bc9c6ea544700" /><Relationship Type="http://schemas.openxmlformats.org/officeDocument/2006/relationships/slideMaster" Target="/ppt/slideMasters/slideMaster1.xml" Id="R7332067b64c94bc8" /><Relationship Type="http://schemas.openxmlformats.org/officeDocument/2006/relationships/notesMaster" Target="/ppt/notesMasters/notesMaster1.xml" Id="Rf92c460e245e44fc" /><Relationship Type="http://schemas.openxmlformats.org/officeDocument/2006/relationships/presProps" Target="/ppt/presProps.xml" Id="R7650f924789b4173" /><Relationship Type="http://schemas.openxmlformats.org/officeDocument/2006/relationships/tableStyles" Target="/ppt/tableStyles.xml" Id="Rcb409b9f4fe84070" /><Relationship Type="http://schemas.openxmlformats.org/officeDocument/2006/relationships/slide" Target="/ppt/slides/slide1.xml" Id="R7386d510a73e4208" /><Relationship Type="http://schemas.openxmlformats.org/officeDocument/2006/relationships/slide" Target="/ppt/slides/slide2.xml" Id="Rb9b40b3c1fbb481f" /><Relationship Type="http://schemas.openxmlformats.org/officeDocument/2006/relationships/slide" Target="/ppt/slides/slide3.xml" Id="R053926c9bffa446d" /><Relationship Type="http://schemas.openxmlformats.org/officeDocument/2006/relationships/slide" Target="/ppt/slides/slide4.xml" Id="R5e53934d9a794ef2" /><Relationship Type="http://schemas.openxmlformats.org/officeDocument/2006/relationships/slide" Target="/ppt/slides/slide5.xml" Id="Rdc4c1d0028894d19" /><Relationship Type="http://schemas.openxmlformats.org/officeDocument/2006/relationships/slide" Target="/ppt/slides/slide6.xml" Id="Rb3214445409a4f2f" /><Relationship Type="http://schemas.openxmlformats.org/officeDocument/2006/relationships/slide" Target="/ppt/slides/slide7.xml" Id="Rf5d0178b035649d0" /><Relationship Type="http://schemas.openxmlformats.org/officeDocument/2006/relationships/slide" Target="/ppt/slides/slide8.xml" Id="R55263ab582ea404f" /><Relationship Type="http://schemas.openxmlformats.org/officeDocument/2006/relationships/slide" Target="/ppt/slides/slide9.xml" Id="Rfdb1e20d9dbc4310" /><Relationship Type="http://schemas.openxmlformats.org/officeDocument/2006/relationships/slide" Target="/ppt/slides/slide10.xml" Id="R580b8dfec08a46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c16ad05f604d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d0591333b246dd" /><Relationship Type="http://schemas.openxmlformats.org/officeDocument/2006/relationships/notesMaster" Target="/ppt/notesMasters/notesMaster1.xml" Id="R78960ef6e2d740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da63ad1da94e94" /><Relationship Type="http://schemas.openxmlformats.org/officeDocument/2006/relationships/notesMaster" Target="/ppt/notesMasters/notesMaster1.xml" Id="R35a901ddca7542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b01ec6ec3841ed" /><Relationship Type="http://schemas.openxmlformats.org/officeDocument/2006/relationships/notesMaster" Target="/ppt/notesMasters/notesMaster1.xml" Id="Reb0386ad0e4b42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41d53d7e8446e8" /><Relationship Type="http://schemas.openxmlformats.org/officeDocument/2006/relationships/notesMaster" Target="/ppt/notesMasters/notesMaster1.xml" Id="R7cec23e1ca7d42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2068f377cc4922" /><Relationship Type="http://schemas.openxmlformats.org/officeDocument/2006/relationships/notesMaster" Target="/ppt/notesMasters/notesMaster1.xml" Id="R2ac94057144f4d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b25393b6ac4a0c" /><Relationship Type="http://schemas.openxmlformats.org/officeDocument/2006/relationships/notesMaster" Target="/ppt/notesMasters/notesMaster1.xml" Id="R1ad33a5c959d45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df81f13a154383" /><Relationship Type="http://schemas.openxmlformats.org/officeDocument/2006/relationships/notesMaster" Target="/ppt/notesMasters/notesMaster1.xml" Id="R61431015fd384d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abd43752174028" /><Relationship Type="http://schemas.openxmlformats.org/officeDocument/2006/relationships/notesMaster" Target="/ppt/notesMasters/notesMaster1.xml" Id="R0ff58a7ea0e346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7887faa54f4dbf" /><Relationship Type="http://schemas.openxmlformats.org/officeDocument/2006/relationships/notesMaster" Target="/ppt/notesMasters/notesMaster1.xml" Id="R21cc938b69544a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0439e6e1e64e57" /><Relationship Type="http://schemas.openxmlformats.org/officeDocument/2006/relationships/notesMaster" Target="/ppt/notesMasters/notesMaster1.xml" Id="Re2ae17b706f24e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Pegasus believes everyone has the right to fly. We built TripFit to make the next step easier: deciding which journey is right for you. It is a native iPhone booking assistant, connected to an airline insights dashboard.</a:t>
            </a:r>
          </a:p>
          <a:p xmlns:a="http://schemas.openxmlformats.org/drawingml/2006/main">
            <a:r>
              <a:t/>
            </a:r>
          </a:p>
          <a:p xmlns:a="http://schemas.openxmlformats.org/drawingml/2006/main">
            <a:r>
              <a:t>Sources and evidence</a:t>
            </a:r>
          </a:p>
          <a:p xmlns:a="http://schemas.openxmlformats.org/drawingml/2006/main">
            <a:r>
              <a:t>README.md</a:t>
            </a:r>
          </a:p>
          <a:p xmlns:a="http://schemas.openxmlformats.org/drawingml/2006/main">
            <a:r>
              <a:t>https://www.flypgs.com/en/help-center</a:t>
            </a:r>
          </a:p>
          <a:p xmlns:a="http://schemas.openxmlformats.org/drawingml/2006/main">
            <a:r>
              <a:t>Screenshot: docs/screenshots/ios-home.png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[0:20–0:50] What makes Pegasus, Pegasus? Affordable access, a travel experience people can customise, and digital convenience. Our idea follows those principles. Better assistance should help someone find a workable trip, understand the extras they need and avoid repeating the same decisions. It should never hide the price or take the decision away from them.</a:t>
            </a:r>
          </a:p>
          <a:p xmlns:a="http://schemas.openxmlformats.org/drawingml/2006/main">
            <a:r>
              <a:t/>
            </a:r>
          </a:p>
          <a:p xmlns:a="http://schemas.openxmlformats.org/drawingml/2006/main">
            <a:r>
              <a:t>Sources and evidence</a:t>
            </a:r>
          </a:p>
          <a:p xmlns:a="http://schemas.openxmlformats.org/drawingml/2006/main">
            <a:r>
              <a:t>https://www.flypgs.com/en/help-center</a:t>
            </a:r>
          </a:p>
          <a:p xmlns:a="http://schemas.openxmlformats.org/drawingml/2006/main">
            <a:r>
              <a:t>https://www.flypgs.com/en/about-pegasus/why-pegasus</a:t>
            </a:r>
          </a:p>
          <a:p xmlns:a="http://schemas.openxmlformats.org/drawingml/2006/main">
            <a:r>
              <a:t>https://www.flypgs.com/en/sustainability/about-pegasus-airlines-and-our-sustainability-framework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[0:50–1:25] The planner starts with how people actually think: get me to Barcelona before this event, within this budget. Type the request or import an invitation or an incoming-flight screenshot. AI extracts the context. The traveller checks the destination, date, time zone and arrival buffer, and locks what matters. Those confirmed details drive search. If nothing matches, the app can explain genuine alternatives without silently changing a locked requirement.</a:t>
            </a:r>
          </a:p>
          <a:p xmlns:a="http://schemas.openxmlformats.org/drawingml/2006/main">
            <a:r>
              <a:t/>
            </a:r>
          </a:p>
          <a:p xmlns:a="http://schemas.openxmlformats.org/drawingml/2006/main">
            <a:r>
              <a:t>Sources and evidence</a:t>
            </a:r>
          </a:p>
          <a:p xmlns:a="http://schemas.openxmlformats.org/drawingml/2006/main">
            <a:r>
              <a:t>backend/evidence/live-trip-import-results.json</a:t>
            </a:r>
          </a:p>
          <a:p xmlns:a="http://schemas.openxmlformats.org/drawingml/2006/main">
            <a:r>
              <a:t>backend/evidence/live-import-search-results.json</a:t>
            </a:r>
          </a:p>
          <a:p xmlns:a="http://schemas.openxmlformats.org/drawingml/2006/main">
            <a:r>
              <a:t>docs/PROVIDERS.md</a:t>
            </a:r>
          </a:p>
          <a:p xmlns:a="http://schemas.openxmlformats.org/drawingml/2006/main">
            <a:r>
              <a:t>Screenshot: docs/screenshots/ios-v2-antalya.png</a:t>
            </a:r>
          </a:p>
          <a:p xmlns:a="http://schemas.openxmlformats.org/drawingml/2006/main">
            <a:r>
              <a:t>Screenshot: docs/screenshots/ios-event-confirmation.png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[1:25–1:55] Packing is often the next difficult choice. Take a photo or use a checklist. In real vision tests, different photos produced different item lists. The passenger can correct that list and confirm the measurements. Code then checks the catalogue. The answer can be an added bag, a suitable bundle or no extra at all. That supports the Pegasus model: the passenger pays for what fits their trip. The priced in-app flow currently uses labelled demo inventory.</a:t>
            </a:r>
          </a:p>
          <a:p xmlns:a="http://schemas.openxmlformats.org/drawingml/2006/main">
            <a:r>
              <a:t/>
            </a:r>
          </a:p>
          <a:p xmlns:a="http://schemas.openxmlformats.org/drawingml/2006/main">
            <a:r>
              <a:t>Sources and evidence</a:t>
            </a:r>
          </a:p>
          <a:p xmlns:a="http://schemas.openxmlformats.org/drawingml/2006/main">
            <a:r>
              <a:t>backend/evidence/live-packing-results.json</a:t>
            </a:r>
          </a:p>
          <a:p xmlns:a="http://schemas.openxmlformats.org/drawingml/2006/main">
            <a:r>
              <a:t>docs/booking-v2-model-verification.json</a:t>
            </a:r>
          </a:p>
          <a:p xmlns:a="http://schemas.openxmlformats.org/drawingml/2006/main">
            <a:r>
              <a:t>docs/VERIFICATION.md</a:t>
            </a:r>
          </a:p>
          <a:p xmlns:a="http://schemas.openxmlformats.org/drawingml/2006/main">
            <a:r>
              <a:t>Screenshot: docs/screenshots/ios-baggage.png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[1:55–2:20] We connected real Pegasus flight availability. AI explains candidate trade-offs, while provider data and code own schedules and prices. The app never invents a flight to make a search succeed. Public Pegasus access supports search, so a live choice continues on Pegasus. We separately built the native extras, review and confirmation journey using clearly labelled demo inventory.</a:t>
            </a:r>
          </a:p>
          <a:p xmlns:a="http://schemas.openxmlformats.org/drawingml/2006/main">
            <a:r>
              <a:t/>
            </a:r>
          </a:p>
          <a:p xmlns:a="http://schemas.openxmlformats.org/drawingml/2006/main">
            <a:r>
              <a:t>Sources and evidence</a:t>
            </a:r>
          </a:p>
          <a:p xmlns:a="http://schemas.openxmlformats.org/drawingml/2006/main">
            <a:r>
              <a:t>docs/PROVIDERS.md</a:t>
            </a:r>
          </a:p>
          <a:p xmlns:a="http://schemas.openxmlformats.org/drawingml/2006/main">
            <a:r>
              <a:t>docs/INTEGRATIONS.md</a:t>
            </a:r>
          </a:p>
          <a:p xmlns:a="http://schemas.openxmlformats.org/drawingml/2006/main">
            <a:r>
              <a:t>docs/VERIFICATION.md</a:t>
            </a:r>
          </a:p>
          <a:p xmlns:a="http://schemas.openxmlformats.org/drawingml/2006/main">
            <a:r>
              <a:t>Screenshot: docs/screenshots/ios-live-pegasus-details.png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[2:20–2:50] With permission, TripFit builds a small travel memory from confirmed activity. In our test, three fictional activities supported preferences for aisle seats, cabin baggage and direct flights. What we know about you makes that memory inspectable. AI suggestions link to the underlying activity, and direct corrections belong to the customer. They can change, lock or forget a preference, then explicitly reuse requirements in search.</a:t>
            </a:r>
          </a:p>
          <a:p xmlns:a="http://schemas.openxmlformats.org/drawingml/2006/main">
            <a:r>
              <a:t/>
            </a:r>
          </a:p>
          <a:p xmlns:a="http://schemas.openxmlformats.org/drawingml/2006/main">
            <a:r>
              <a:t>Sources and evidence</a:t>
            </a:r>
          </a:p>
          <a:p xmlns:a="http://schemas.openxmlformats.org/drawingml/2006/main">
            <a:r>
              <a:t>docs/PERSONALIZATION.md</a:t>
            </a:r>
          </a:p>
          <a:p xmlns:a="http://schemas.openxmlformats.org/drawingml/2006/main">
            <a:r>
              <a:t>backend/evidence/live-personalization-results.json</a:t>
            </a:r>
          </a:p>
          <a:p xmlns:a="http://schemas.openxmlformats.org/drawingml/2006/main">
            <a:r>
              <a:t>docs/travel-profile-model-verification.json</a:t>
            </a:r>
          </a:p>
          <a:p xmlns:a="http://schemas.openxmlformats.org/drawingml/2006/main">
            <a:r>
              <a:t>Screenshot: docs/screenshots/ios-travel-memory-consent.png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[2:50–3:20] There are two distinct permissions. Personal memory helps the individual traveller. Product analytics helps Pegasus understand the journey through pseudonymous events and aggregate measures. Stored memory and analytics exclude names, payment details, raw messages and photos. Requested AI analysis still sends the chosen input for processing. Customers can pause memory, inspect their activity, export it or erase it. Deleting personal memory does not automatically delete already uploaded aggregate analytics.</a:t>
            </a:r>
          </a:p>
          <a:p xmlns:a="http://schemas.openxmlformats.org/drawingml/2006/main">
            <a:r>
              <a:t/>
            </a:r>
          </a:p>
          <a:p xmlns:a="http://schemas.openxmlformats.org/drawingml/2006/main">
            <a:r>
              <a:t>Sources and evidence</a:t>
            </a:r>
          </a:p>
          <a:p xmlns:a="http://schemas.openxmlformats.org/drawingml/2006/main">
            <a:r>
              <a:t>docs/PERSONALIZATION.md</a:t>
            </a:r>
          </a:p>
          <a:p xmlns:a="http://schemas.openxmlformats.org/drawingml/2006/main">
            <a:r>
              <a:t>docs/ANALYTICS.md</a:t>
            </a:r>
          </a:p>
          <a:p xmlns:a="http://schemas.openxmlformats.org/drawingml/2006/main">
            <a:r>
              <a:t>ios/App/TravelProfileStore.swift</a:t>
            </a:r>
          </a:p>
          <a:p xmlns:a="http://schemas.openxmlformats.org/drawingml/2006/main">
            <a:r>
              <a:t>Screenshot: docs/screenshots/dashboard-v2-session.png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[3:20–3:50] The airline gets a useful learning loop. We record the ordered journey and measure active time, revisits and recommendation outcomes. Code calculates the metrics. AI proposes an explanation and a test tied to those metrics. This actual dashboard example uses synthetic rehearsal data: repeated baggage visits suggest testing a clearer allowance summary. It does not prove confusion, and it does not prove the proposed change will work.</a:t>
            </a:r>
          </a:p>
          <a:p xmlns:a="http://schemas.openxmlformats.org/drawingml/2006/main">
            <a:r>
              <a:t/>
            </a:r>
          </a:p>
          <a:p xmlns:a="http://schemas.openxmlformats.org/drawingml/2006/main">
            <a:r>
              <a:t>Sources and evidence</a:t>
            </a:r>
          </a:p>
          <a:p xmlns:a="http://schemas.openxmlformats.org/drawingml/2006/main">
            <a:r>
              <a:t>docs/ANALYTICS.md</a:t>
            </a:r>
          </a:p>
          <a:p xmlns:a="http://schemas.openxmlformats.org/drawingml/2006/main">
            <a:r>
              <a:t>backend/evidence/final-insight-verification.json</a:t>
            </a:r>
          </a:p>
          <a:p xmlns:a="http://schemas.openxmlformats.org/drawingml/2006/main">
            <a:r>
              <a:t>Screenshot: docs/screenshots/dashboard-v2-ai-live.png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[3:50–4:20] We would test value in the terms that matter for Pegasus: more completed journeys and better-fitting ancillary choices, while protecting correctness and customer control. We are not claiming conversion or revenue gains from rehearsal data. The prototype has a successful Xcode build, 80 backend tests, 58 native booking checks and 26 profile checks. Real Pegasus and OpenAI calls have succeeded. Full device, accessibility and photo-journey acceptance testing remains a pilot prerequisite.</a:t>
            </a:r>
          </a:p>
          <a:p xmlns:a="http://schemas.openxmlformats.org/drawingml/2006/main">
            <a:r>
              <a:t/>
            </a:r>
          </a:p>
          <a:p xmlns:a="http://schemas.openxmlformats.org/drawingml/2006/main">
            <a:r>
              <a:t>Sources and evidence</a:t>
            </a:r>
          </a:p>
          <a:p xmlns:a="http://schemas.openxmlformats.org/drawingml/2006/main">
            <a:r>
              <a:t>docs/VERIFICATION.md</a:t>
            </a:r>
          </a:p>
          <a:p xmlns:a="http://schemas.openxmlformats.org/drawingml/2006/main">
            <a:r>
              <a:t>docs/booking-v2-model-verification.json</a:t>
            </a:r>
          </a:p>
          <a:p xmlns:a="http://schemas.openxmlformats.org/drawingml/2006/main">
            <a:r>
              <a:t>docs/travel-profile-model-verification.json</a:t>
            </a:r>
          </a:p>
          <a:p xmlns:a="http://schemas.openxmlformats.org/drawingml/2006/main">
            <a:r>
              <a:t>Screenshot: docs/screenshots/dashboard-v2-recommendations.png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[4:20–4:45] Our ask is a Pegasus product and engineering sponsor for a controlled pilot. Start with one route cohort, connect the authorised booking services and measure whether these improvements help people complete the right journey. The code, runnable Xcode project, backend, dashboard and evidence are in the GitHub repository. TripFit takes the Pegasus promise and makes the choices around flying more personal. Thank you.</a:t>
            </a:r>
          </a:p>
          <a:p xmlns:a="http://schemas.openxmlformats.org/drawingml/2006/main">
            <a:r>
              <a:t/>
            </a:r>
          </a:p>
          <a:p xmlns:a="http://schemas.openxmlformats.org/drawingml/2006/main">
            <a:r>
              <a:t>Sources and evidence</a:t>
            </a:r>
          </a:p>
          <a:p xmlns:a="http://schemas.openxmlformats.org/drawingml/2006/main">
            <a:r>
              <a:t>https://github.com/MusayevAli/Pegasus</a:t>
            </a:r>
          </a:p>
          <a:p xmlns:a="http://schemas.openxmlformats.org/drawingml/2006/main">
            <a:r>
              <a:t>docs/PROVIDERS.md</a:t>
            </a:r>
          </a:p>
          <a:p xmlns:a="http://schemas.openxmlformats.org/drawingml/2006/main">
            <a:r>
              <a:t>Screenshot: docs/screenshots/ios-v2-confirmation.png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388455f5e142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06472963b04d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0fd8874e0044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9b30dd55174b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2b8f241cd7431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b913fc4e5a4b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53C041-3F02-41D8-8C9E-3450F74C2BA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BA7A193-69AD-448D-850E-4262DE4506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F9725C6-1D30-4AAD-8191-01015FF6E7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C83210-15AE-4A4C-8507-7F5FDF2EA8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4D4D194-EFBB-47B3-B4A3-07DAD0BEC5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6600CAA-B698-414C-8F05-B6CE4DBC47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ACB055-098B-4F07-A571-7ED425C5BA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2DB5AE-A30A-43CB-B5D3-25D918A187D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CCBBE1-FB87-4052-9F37-82E8EBFE96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0767D5-DBFC-4A9A-94F8-EB891C292A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4ef254ae4d4df7" /><Relationship Type="http://schemas.openxmlformats.org/officeDocument/2006/relationships/slideLayout" Target="/ppt/slideLayouts/slideLayout1.xml" Id="Rc6146d211d8e4034" /><Relationship Type="http://schemas.openxmlformats.org/officeDocument/2006/relationships/slideLayout" Target="/ppt/slideLayouts/slideLayout2.xml" Id="Rb9de20c0b03e4608" /><Relationship Type="http://schemas.openxmlformats.org/officeDocument/2006/relationships/slideLayout" Target="/ppt/slideLayouts/slideLayout3.xml" Id="R26139e46f54e4663" /><Relationship Type="http://schemas.openxmlformats.org/officeDocument/2006/relationships/slideLayout" Target="/ppt/slideLayouts/slideLayout4.xml" Id="R227748d3f7014ffc" /><Relationship Type="http://schemas.openxmlformats.org/officeDocument/2006/relationships/slideLayout" Target="/ppt/slideLayouts/slideLayout5.xml" Id="R52705b4b4b574532" /><Relationship Type="http://schemas.openxmlformats.org/officeDocument/2006/relationships/slideLayout" Target="/ppt/slideLayouts/slideLayout6.xml" Id="Reeb79f876b5c45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146d211d8e4034"/>
    <p:sldLayoutId xmlns:r="http://schemas.openxmlformats.org/officeDocument/2006/relationships" id="2147483650" r:id="Rb9de20c0b03e4608"/>
    <p:sldLayoutId xmlns:r="http://schemas.openxmlformats.org/officeDocument/2006/relationships" id="2147483651" r:id="R26139e46f54e4663"/>
    <p:sldLayoutId xmlns:r="http://schemas.openxmlformats.org/officeDocument/2006/relationships" id="2147483652" r:id="R227748d3f7014ffc"/>
    <p:sldLayoutId xmlns:r="http://schemas.openxmlformats.org/officeDocument/2006/relationships" id="2147483653" r:id="R52705b4b4b574532"/>
    <p:sldLayoutId xmlns:r="http://schemas.openxmlformats.org/officeDocument/2006/relationships" id="2147483654" r:id="Reeb79f876b5c45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62e56722db4d04" /><Relationship Type="http://schemas.openxmlformats.org/officeDocument/2006/relationships/image" Target="/ppt/media/image.png" Id="R0be21ab4349b4882" /><Relationship Type="http://schemas.openxmlformats.org/officeDocument/2006/relationships/image" Target="/ppt/media/image2.png" Id="R4edef044652e4597" /><Relationship Type="http://schemas.openxmlformats.org/officeDocument/2006/relationships/notesSlide" Target="/ppt/notesSlides/notesSlide1.xml" Id="Rf79b83fd1bad4b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5d892e1ef348ed" /><Relationship Type="http://schemas.openxmlformats.org/officeDocument/2006/relationships/image" Target="/ppt/media/image.png" Id="R169343e52a0f4117" /><Relationship Type="http://schemas.openxmlformats.org/officeDocument/2006/relationships/notesSlide" Target="/ppt/notesSlides/notesSlide2.xml" Id="Rd7b896e2f43546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291acf1dc043ec" /><Relationship Type="http://schemas.openxmlformats.org/officeDocument/2006/relationships/image" Target="/ppt/media/image.png" Id="Rc5c0b0da45ff4751" /><Relationship Type="http://schemas.openxmlformats.org/officeDocument/2006/relationships/image" Target="/ppt/media/image.jpeg" Id="Rdc90df1ed1cb488c" /><Relationship Type="http://schemas.openxmlformats.org/officeDocument/2006/relationships/image" Target="/ppt/media/image2.jpeg" Id="R3d7c7126ce69422a" /><Relationship Type="http://schemas.openxmlformats.org/officeDocument/2006/relationships/notesSlide" Target="/ppt/notesSlides/notesSlide3.xml" Id="R8fa4effeccc346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bdc5908aa164e1d" /><Relationship Type="http://schemas.openxmlformats.org/officeDocument/2006/relationships/image" Target="/ppt/media/image.png" Id="R784e82295ce74cec" /><Relationship Type="http://schemas.openxmlformats.org/officeDocument/2006/relationships/image" Target="/ppt/media/image3.jpeg" Id="Rb4f7ab3a311148ed" /><Relationship Type="http://schemas.openxmlformats.org/officeDocument/2006/relationships/image" Target="/ppt/media/image6.png" Id="R60930a21485c493d" /><Relationship Type="http://schemas.openxmlformats.org/officeDocument/2006/relationships/notesSlide" Target="/ppt/notesSlides/notesSlide4.xml" Id="R067945be80ca4d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108d0b4d3184d74" /><Relationship Type="http://schemas.openxmlformats.org/officeDocument/2006/relationships/image" Target="/ppt/media/image.png" Id="Rf9bf78840d2b4825" /><Relationship Type="http://schemas.openxmlformats.org/officeDocument/2006/relationships/image" Target="/ppt/media/image4.jpeg" Id="R34e2089c7f974ae8" /><Relationship Type="http://schemas.openxmlformats.org/officeDocument/2006/relationships/notesSlide" Target="/ppt/notesSlides/notesSlide5.xml" Id="Rc8c22321224a4d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383844c948b4c05" /><Relationship Type="http://schemas.openxmlformats.org/officeDocument/2006/relationships/image" Target="/ppt/media/image.png" Id="Ra3d76cd03284408a" /><Relationship Type="http://schemas.openxmlformats.org/officeDocument/2006/relationships/image" Target="/ppt/media/image5.jpeg" Id="R6efee9e6396d45c4" /><Relationship Type="http://schemas.openxmlformats.org/officeDocument/2006/relationships/notesSlide" Target="/ppt/notesSlides/notesSlide6.xml" Id="R6694dac5ba944c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7deda4dc6874c01" /><Relationship Type="http://schemas.openxmlformats.org/officeDocument/2006/relationships/image" Target="/ppt/media/image.png" Id="Rdf02d03b6b2542a0" /><Relationship Type="http://schemas.openxmlformats.org/officeDocument/2006/relationships/image" Target="/ppt/media/image6.jpeg" Id="R5fc892db842740af" /><Relationship Type="http://schemas.openxmlformats.org/officeDocument/2006/relationships/notesSlide" Target="/ppt/notesSlides/notesSlide7.xml" Id="R1921969fc90745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21f809781cc4c89" /><Relationship Type="http://schemas.openxmlformats.org/officeDocument/2006/relationships/image" Target="/ppt/media/image.png" Id="R0d7c3f53393542bb" /><Relationship Type="http://schemas.openxmlformats.org/officeDocument/2006/relationships/image" Target="/ppt/media/image7.jpeg" Id="R683836b400a041ae" /><Relationship Type="http://schemas.openxmlformats.org/officeDocument/2006/relationships/notesSlide" Target="/ppt/notesSlides/notesSlide8.xml" Id="R1d9e9ab45da840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d55d34a3a44c73" /><Relationship Type="http://schemas.openxmlformats.org/officeDocument/2006/relationships/image" Target="/ppt/media/image.png" Id="R50d32932c55b421e" /><Relationship Type="http://schemas.openxmlformats.org/officeDocument/2006/relationships/image" Target="/ppt/media/image8.jpeg" Id="R098646167119485f" /><Relationship Type="http://schemas.openxmlformats.org/officeDocument/2006/relationships/notesSlide" Target="/ppt/notesSlides/notesSlide9.xml" Id="R357df3c7349d4f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8d9004b3e8d476b" /><Relationship Type="http://schemas.openxmlformats.org/officeDocument/2006/relationships/image" Target="/ppt/media/image.png" Id="Rf003406b053f4b93" /><Relationship Type="http://schemas.openxmlformats.org/officeDocument/2006/relationships/hyperlink" Target="https://github.com/MusayevAli/Pegasus" TargetMode="External" Id="R75d387d023914acd" /><Relationship Type="http://schemas.openxmlformats.org/officeDocument/2006/relationships/image" Target="/ppt/media/image9.jpeg" Id="Rae2b9e48107346a3" /><Relationship Type="http://schemas.openxmlformats.org/officeDocument/2006/relationships/notesSlide" Target="/ppt/notesSlides/notesSlide10.xml" Id="R759a55bcf7a845d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A9C4DBA-5931-48A8-BADA-6AF91AE44927}"/>
              </a:ext>
            </a:extLst>
          </p:cNvPr>
          <p:cNvPicPr>
            <a:picLocks xmlns:a="http://schemas.openxmlformats.org/drawingml/2006/main" noChangeAspect="1"/>
          </p:cNvPicPr>
          <p:nvPr/>
        </p:nvPicPr>
        <p:blipFill>
          <a:blip xmlns:r="http://schemas.openxmlformats.org/officeDocument/2006/relationships" xmlns:a="http://schemas.openxmlformats.org/drawingml/2006/main" r:embed="R0be21ab4349b488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ripFit">
            <a:extLst xmlns:a="http://schemas.openxmlformats.org/drawingml/2006/main">
              <a:ext uri="{FF2B5EF4-FFF2-40B4-BE49-F238E27FC236}">
                <a16:creationId xmlns:a16="http://schemas.microsoft.com/office/drawing/2014/main" id="{B8AFB2F2-0863-4991-8C0A-50663294448E}"/>
              </a:ext>
            </a:extLst>
          </p:cNvPr>
          <p:cNvSpPr>
            <a:spLocks xmlns:a="http://schemas.openxmlformats.org/drawingml/2006/main" noGrp="1"/>
          </p:cNvSpPr>
          <p:nvPr/>
        </p:nvSpPr>
        <p:spPr>
          <a:xfrm xmlns:a="http://schemas.openxmlformats.org/drawingml/2006/main">
            <a:off x="381000" y="371475"/>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i="0">
                <a:solidFill>
                  <a:srgbClr val="0C1112"/>
                </a:solidFill>
                <a:latin typeface="Arial"/>
                <a:ea typeface="Arial"/>
                <a:cs typeface="Arial"/>
              </a:defRPr>
            </a:defPPr>
          </a:lstStyle>
          <a:p xmlns:a="http://schemas.openxmlformats.org/drawingml/2006/main">
            <a:pPr>
              <a:defRPr sz="1650" b="1" i="0">
                <a:solidFill>
                  <a:srgbClr val="0C1112"/>
                </a:solidFill>
                <a:latin typeface="Arial"/>
                <a:ea typeface="Arial"/>
                <a:cs typeface="Arial"/>
              </a:defRPr>
            </a:pPr>
            <a:r>
              <a:rPr sz="1650" b="1" i="0">
                <a:solidFill>
                  <a:srgbClr val="0C1112"/>
                </a:solidFill>
                <a:latin typeface="Arial"/>
                <a:ea typeface="Arial"/>
                <a:cs typeface="Arial"/>
              </a:rPr>
              <a:t>TripFit</a:t>
            </a:r>
          </a:p>
        </p:txBody>
      </p:sp>
      <p:sp>
        <p:nvSpPr>
          <p:cNvPr id="3" name="PEGASUS&#10;HACKATHON">
            <a:extLst xmlns:a="http://schemas.openxmlformats.org/drawingml/2006/main">
              <a:ext uri="{FF2B5EF4-FFF2-40B4-BE49-F238E27FC236}">
                <a16:creationId xmlns:a16="http://schemas.microsoft.com/office/drawing/2014/main" id="{58BE63CE-F577-4EAD-A9D8-7E119B4BA11E}"/>
              </a:ext>
            </a:extLst>
          </p:cNvPr>
          <p:cNvSpPr>
            <a:spLocks xmlns:a="http://schemas.openxmlformats.org/drawingml/2006/main" noGrp="1"/>
          </p:cNvSpPr>
          <p:nvPr/>
        </p:nvSpPr>
        <p:spPr>
          <a:xfrm xmlns:a="http://schemas.openxmlformats.org/drawingml/2006/main">
            <a:off x="2028825" y="352425"/>
            <a:ext cx="6191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PEGASUS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HACKATHON</a:t>
            </a:r>
          </a:p>
        </p:txBody>
      </p:sp>
      <p:sp>
        <p:nvSpPr>
          <p:cNvPr id="4" name="Native iPhone app + airline insights">
            <a:extLst xmlns:a="http://schemas.openxmlformats.org/drawingml/2006/main">
              <a:ext uri="{FF2B5EF4-FFF2-40B4-BE49-F238E27FC236}">
                <a16:creationId xmlns:a16="http://schemas.microsoft.com/office/drawing/2014/main" id="{F506D006-EAC2-49DF-83D6-43B4E7AF6BD1}"/>
              </a:ext>
            </a:extLst>
          </p:cNvPr>
          <p:cNvSpPr>
            <a:spLocks xmlns:a="http://schemas.openxmlformats.org/drawingml/2006/main" noGrp="1"/>
          </p:cNvSpPr>
          <p:nvPr/>
        </p:nvSpPr>
        <p:spPr>
          <a:xfrm xmlns:a="http://schemas.openxmlformats.org/drawingml/2006/main">
            <a:off x="8667750" y="457200"/>
            <a:ext cx="3133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343D42"/>
                </a:solidFill>
                <a:latin typeface="Arial"/>
                <a:ea typeface="Arial"/>
                <a:cs typeface="Arial"/>
              </a:defRPr>
            </a:defPPr>
          </a:lstStyle>
          <a:p xmlns:a="http://schemas.openxmlformats.org/drawingml/2006/main">
            <a:pPr>
              <a:defRPr sz="1350" b="0" i="0">
                <a:solidFill>
                  <a:srgbClr val="343D42"/>
                </a:solidFill>
                <a:latin typeface="Arial"/>
                <a:ea typeface="Arial"/>
                <a:cs typeface="Arial"/>
              </a:defRPr>
            </a:pPr>
            <a:r>
              <a:rPr sz="1350" b="0" i="0">
                <a:solidFill>
                  <a:srgbClr val="343D42"/>
                </a:solidFill>
                <a:latin typeface="Arial"/>
                <a:ea typeface="Arial"/>
                <a:cs typeface="Arial"/>
              </a:rPr>
              <a:t>Native iPhone app + airline insights</a:t>
            </a:r>
          </a:p>
        </p:txBody>
      </p:sp>
      <p:sp>
        <p:nvSpPr>
          <p:cNvPr id="5" name="Editorial divider">
            <a:extLst xmlns:a="http://schemas.openxmlformats.org/drawingml/2006/main">
              <a:ext uri="{FF2B5EF4-FFF2-40B4-BE49-F238E27FC236}">
                <a16:creationId xmlns:a16="http://schemas.microsoft.com/office/drawing/2014/main" id="{42155F4E-B3C9-4A9D-A140-145E98BAA231}"/>
              </a:ext>
            </a:extLst>
          </p:cNvPr>
          <p:cNvSpPr>
            <a:spLocks xmlns:a="http://schemas.openxmlformats.org/drawingml/2006/main" noGrp="1"/>
          </p:cNvSpPr>
          <p:nvPr/>
        </p:nvSpPr>
        <p:spPr>
          <a:xfrm xmlns:a="http://schemas.openxmlformats.org/drawingml/2006/main">
            <a:off x="371475" y="1257300"/>
            <a:ext cx="11439525" cy="9525"/>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6" name="Editorial divider">
            <a:extLst xmlns:a="http://schemas.openxmlformats.org/drawingml/2006/main">
              <a:ext uri="{FF2B5EF4-FFF2-40B4-BE49-F238E27FC236}">
                <a16:creationId xmlns:a16="http://schemas.microsoft.com/office/drawing/2014/main" id="{7BE0E1E5-1375-49B4-A743-9F47A32D5689}"/>
              </a:ext>
            </a:extLst>
          </p:cNvPr>
          <p:cNvSpPr>
            <a:spLocks xmlns:a="http://schemas.openxmlformats.org/drawingml/2006/main" noGrp="1"/>
          </p:cNvSpPr>
          <p:nvPr/>
        </p:nvSpPr>
        <p:spPr>
          <a:xfrm xmlns:a="http://schemas.openxmlformats.org/drawingml/2006/main">
            <a:off x="1704975" y="361950"/>
            <a:ext cx="9525" cy="6134100"/>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7" name="01">
            <a:extLst xmlns:a="http://schemas.openxmlformats.org/drawingml/2006/main">
              <a:ext uri="{FF2B5EF4-FFF2-40B4-BE49-F238E27FC236}">
                <a16:creationId xmlns:a16="http://schemas.microsoft.com/office/drawing/2014/main" id="{633D387C-8ACB-44BE-AD18-52DB91281C8C}"/>
              </a:ext>
            </a:extLst>
          </p:cNvPr>
          <p:cNvSpPr>
            <a:spLocks xmlns:a="http://schemas.openxmlformats.org/drawingml/2006/main" noGrp="1"/>
          </p:cNvSpPr>
          <p:nvPr/>
        </p:nvSpPr>
        <p:spPr>
          <a:xfrm xmlns:a="http://schemas.openxmlformats.org/drawingml/2006/main">
            <a:off x="390525" y="15811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i="0">
                <a:solidFill>
                  <a:srgbClr val="0C1112"/>
                </a:solidFill>
                <a:latin typeface="Arial"/>
                <a:ea typeface="Arial"/>
                <a:cs typeface="Arial"/>
              </a:defRPr>
            </a:defPPr>
          </a:lstStyle>
          <a:p xmlns:a="http://schemas.openxmlformats.org/drawingml/2006/main">
            <a:pPr>
              <a:defRPr sz="1725" b="1" i="0">
                <a:solidFill>
                  <a:srgbClr val="0C1112"/>
                </a:solidFill>
                <a:latin typeface="Arial"/>
                <a:ea typeface="Arial"/>
                <a:cs typeface="Arial"/>
              </a:defRPr>
            </a:pPr>
            <a:r>
              <a:rPr sz="1725" b="1" i="0">
                <a:solidFill>
                  <a:srgbClr val="0C1112"/>
                </a:solidFill>
                <a:latin typeface="Arial"/>
                <a:ea typeface="Arial"/>
                <a:cs typeface="Arial"/>
              </a:rPr>
              <a:t>01</a:t>
            </a:r>
          </a:p>
        </p:txBody>
      </p:sp>
      <p:sp>
        <p:nvSpPr>
          <p:cNvPr id="8" name="09 OCT 2026">
            <a:extLst xmlns:a="http://schemas.openxmlformats.org/drawingml/2006/main">
              <a:ext uri="{FF2B5EF4-FFF2-40B4-BE49-F238E27FC236}">
                <a16:creationId xmlns:a16="http://schemas.microsoft.com/office/drawing/2014/main" id="{822B8EA2-E5A3-4C4B-8255-91640FCED67E}"/>
              </a:ext>
            </a:extLst>
          </p:cNvPr>
          <p:cNvSpPr>
            <a:spLocks xmlns:a="http://schemas.openxmlformats.org/drawingml/2006/main" noGrp="1"/>
          </p:cNvSpPr>
          <p:nvPr/>
        </p:nvSpPr>
        <p:spPr>
          <a:xfrm xmlns:a="http://schemas.openxmlformats.org/drawingml/2006/main">
            <a:off x="381000" y="614362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i="0">
                <a:solidFill>
                  <a:srgbClr val="343D42"/>
                </a:solidFill>
                <a:latin typeface="Arial"/>
                <a:ea typeface="Arial"/>
                <a:cs typeface="Arial"/>
              </a:defRPr>
            </a:defPPr>
          </a:lstStyle>
          <a:p xmlns:a="http://schemas.openxmlformats.org/drawingml/2006/main">
            <a:pPr>
              <a:defRPr sz="975" b="0" i="0">
                <a:solidFill>
                  <a:srgbClr val="343D42"/>
                </a:solidFill>
                <a:latin typeface="Arial"/>
                <a:ea typeface="Arial"/>
                <a:cs typeface="Arial"/>
              </a:defRPr>
            </a:pPr>
            <a:r>
              <a:rPr sz="975" b="0" i="0">
                <a:solidFill>
                  <a:srgbClr val="343D42"/>
                </a:solidFill>
                <a:latin typeface="Arial"/>
                <a:ea typeface="Arial"/>
                <a:cs typeface="Arial"/>
              </a:rPr>
              <a:t>09 OCT 2026</a:t>
            </a:r>
          </a:p>
        </p:txBody>
      </p:sp>
      <p:sp>
        <p:nvSpPr>
          <p:cNvPr id="9" name="TripFit">
            <a:extLst xmlns:a="http://schemas.openxmlformats.org/drawingml/2006/main">
              <a:ext uri="{FF2B5EF4-FFF2-40B4-BE49-F238E27FC236}">
                <a16:creationId xmlns:a16="http://schemas.microsoft.com/office/drawing/2014/main" id="{AE6C734F-B297-4565-922C-F03B5F4FF61C}"/>
              </a:ext>
            </a:extLst>
          </p:cNvPr>
          <p:cNvSpPr>
            <a:spLocks xmlns:a="http://schemas.openxmlformats.org/drawingml/2006/main" noGrp="1"/>
          </p:cNvSpPr>
          <p:nvPr/>
        </p:nvSpPr>
        <p:spPr>
          <a:xfrm xmlns:a="http://schemas.openxmlformats.org/drawingml/2006/main">
            <a:off x="1971675" y="2038350"/>
            <a:ext cx="70675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400" b="1" i="0">
                <a:solidFill>
                  <a:srgbClr val="0C1112"/>
                </a:solidFill>
                <a:latin typeface="Arial"/>
                <a:ea typeface="Arial"/>
                <a:cs typeface="Arial"/>
              </a:defRPr>
            </a:defPPr>
          </a:lstStyle>
          <a:p xmlns:a="http://schemas.openxmlformats.org/drawingml/2006/main">
            <a:pPr>
              <a:defRPr sz="8400" b="1" i="0">
                <a:solidFill>
                  <a:srgbClr val="0C1112"/>
                </a:solidFill>
                <a:latin typeface="Arial"/>
                <a:ea typeface="Arial"/>
                <a:cs typeface="Arial"/>
              </a:defRPr>
            </a:pPr>
            <a:r>
              <a:rPr sz="8400" b="1" i="0">
                <a:solidFill>
                  <a:srgbClr val="0C1112"/>
                </a:solidFill>
                <a:latin typeface="Arial"/>
                <a:ea typeface="Arial"/>
                <a:cs typeface="Arial"/>
              </a:rPr>
              <a:t>TripFit</a:t>
            </a:r>
          </a:p>
        </p:txBody>
      </p:sp>
      <p:sp>
        <p:nvSpPr>
          <p:cNvPr id="10" name="for Pegasus">
            <a:extLst xmlns:a="http://schemas.openxmlformats.org/drawingml/2006/main">
              <a:ext uri="{FF2B5EF4-FFF2-40B4-BE49-F238E27FC236}">
                <a16:creationId xmlns:a16="http://schemas.microsoft.com/office/drawing/2014/main" id="{299599EA-DCE6-47C8-80D9-019D34572EB0}"/>
              </a:ext>
            </a:extLst>
          </p:cNvPr>
          <p:cNvSpPr>
            <a:spLocks xmlns:a="http://schemas.openxmlformats.org/drawingml/2006/main" noGrp="1"/>
          </p:cNvSpPr>
          <p:nvPr/>
        </p:nvSpPr>
        <p:spPr>
          <a:xfrm xmlns:a="http://schemas.openxmlformats.org/drawingml/2006/main">
            <a:off x="2000250" y="3390900"/>
            <a:ext cx="6953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75" b="0" i="1">
                <a:solidFill>
                  <a:srgbClr val="0C1112"/>
                </a:solidFill>
                <a:latin typeface="Arial"/>
                <a:ea typeface="Arial"/>
                <a:cs typeface="Arial"/>
              </a:defRPr>
            </a:defPPr>
          </a:lstStyle>
          <a:p xmlns:a="http://schemas.openxmlformats.org/drawingml/2006/main">
            <a:pPr>
              <a:defRPr sz="6075" b="0" i="1">
                <a:solidFill>
                  <a:srgbClr val="0C1112"/>
                </a:solidFill>
                <a:latin typeface="Arial"/>
                <a:ea typeface="Arial"/>
                <a:cs typeface="Arial"/>
              </a:defRPr>
            </a:pPr>
            <a:r>
              <a:rPr sz="6075" b="0" i="1">
                <a:solidFill>
                  <a:srgbClr val="0C1112"/>
                </a:solidFill>
                <a:latin typeface="Arial"/>
                <a:ea typeface="Arial"/>
                <a:cs typeface="Arial"/>
              </a:rPr>
              <a:t>for Pegasus</a:t>
            </a:r>
          </a:p>
        </p:txBody>
      </p:sp>
      <p:sp>
        <p:nvSpPr>
          <p:cNvPr id="11" name="A more personal way to plan,&#10;choose and book a tri">
            <a:extLst xmlns:a="http://schemas.openxmlformats.org/drawingml/2006/main">
              <a:ext uri="{FF2B5EF4-FFF2-40B4-BE49-F238E27FC236}">
                <a16:creationId xmlns:a16="http://schemas.microsoft.com/office/drawing/2014/main" id="{14982D88-1FDB-47AE-8BA6-DBCFC7419AC8}"/>
              </a:ext>
            </a:extLst>
          </p:cNvPr>
          <p:cNvSpPr>
            <a:spLocks xmlns:a="http://schemas.openxmlformats.org/drawingml/2006/main" noGrp="1"/>
          </p:cNvSpPr>
          <p:nvPr/>
        </p:nvSpPr>
        <p:spPr>
          <a:xfrm xmlns:a="http://schemas.openxmlformats.org/drawingml/2006/main">
            <a:off x="2038350" y="5000625"/>
            <a:ext cx="65532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i="0">
                <a:solidFill>
                  <a:srgbClr val="0C1112"/>
                </a:solidFill>
                <a:latin typeface="Arial"/>
                <a:ea typeface="Arial"/>
                <a:cs typeface="Arial"/>
              </a:defRPr>
            </a:defPPr>
          </a:lstStyle>
          <a:p xmlns:a="http://schemas.openxmlformats.org/drawingml/2006/main">
            <a:pPr>
              <a:defRPr sz="2475" b="0" i="0">
                <a:solidFill>
                  <a:srgbClr val="0C1112"/>
                </a:solidFill>
                <a:latin typeface="Arial"/>
                <a:ea typeface="Arial"/>
                <a:cs typeface="Arial"/>
              </a:defRPr>
            </a:pPr>
            <a:r>
              <a:rPr sz="2475" b="0" i="0">
                <a:solidFill>
                  <a:srgbClr val="0C1112"/>
                </a:solidFill>
                <a:latin typeface="Arial"/>
                <a:ea typeface="Arial"/>
                <a:cs typeface="Arial"/>
              </a:rPr>
              <a:t>A more personal way to plan,</a:t>
            </a:r>
          </a:p>
          <a:p xmlns:a="http://schemas.openxmlformats.org/drawingml/2006/main">
            <a:pPr>
              <a:defRPr sz="2475" b="0" i="0">
                <a:solidFill>
                  <a:srgbClr val="0C1112"/>
                </a:solidFill>
                <a:latin typeface="Arial"/>
                <a:ea typeface="Arial"/>
                <a:cs typeface="Arial"/>
              </a:defRPr>
            </a:pPr>
            <a:r>
              <a:rPr sz="2475" b="0" i="0">
                <a:solidFill>
                  <a:srgbClr val="0C1112"/>
                </a:solidFill>
                <a:latin typeface="Arial"/>
                <a:ea typeface="Arial"/>
                <a:cs typeface="Arial"/>
              </a:rPr>
              <a:t>choose and book a trip.</a:t>
            </a:r>
          </a:p>
        </p:txBody>
      </p:sp>
      <p:pic>
        <p:nvPicPr>
          <p:cNvPr id="12" name="">
            <a:extLst xmlns:a="http://schemas.openxmlformats.org/drawingml/2006/main">
              <a:ext uri="{FF2B5EF4-FFF2-40B4-BE49-F238E27FC236}">
                <a16:creationId xmlns:a16="http://schemas.microsoft.com/office/drawing/2014/main" id="{DB3D2EF9-CC17-4303-8F28-72C438B7CB82}"/>
              </a:ext>
            </a:extLst>
          </p:cNvPr>
          <p:cNvPicPr>
            <a:picLocks xmlns:a="http://schemas.openxmlformats.org/drawingml/2006/main" noChangeAspect="1"/>
          </p:cNvPicPr>
          <p:nvPr/>
        </p:nvPicPr>
        <p:blipFill>
          <a:blip xmlns:r="http://schemas.openxmlformats.org/officeDocument/2006/relationships" xmlns:a="http://schemas.openxmlformats.org/drawingml/2006/main" r:embed="R4edef044652e4597"/>
          <a:srcRect xmlns:a="http://schemas.openxmlformats.org/drawingml/2006/main" l="0" t="0" r="0" b="0"/>
          <a:stretch xmlns:a="http://schemas.openxmlformats.org/drawingml/2006/main"/>
        </p:blipFill>
        <p:spPr>
          <a:xfrm xmlns:a="http://schemas.openxmlformats.org/drawingml/2006/main">
            <a:off x="9391650" y="1562100"/>
            <a:ext cx="2143125" cy="4657725"/>
          </a:xfrm>
          <a:prstGeom xmlns:a="http://schemas.openxmlformats.org/drawingml/2006/main" prst="roundRect">
            <a:avLst>
              <a:gd name="adj" fmla="val 15111"/>
            </a:avLst>
          </a:prstGeom>
        </p:spPr>
      </p:pic>
    </p:spTree>
    <p:extLst>
      <p:ext uri="{BB962C8B-B14F-4D97-AF65-F5344CB8AC3E}">
        <p14:creationId xmlns:p14="http://schemas.microsoft.com/office/powerpoint/2010/main" val="142007019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77F067DE-52BA-4E32-87BB-D0A44040F073}"/>
              </a:ext>
            </a:extLst>
          </p:cNvPr>
          <p:cNvPicPr>
            <a:picLocks xmlns:a="http://schemas.openxmlformats.org/drawingml/2006/main" noChangeAspect="1"/>
          </p:cNvPicPr>
          <p:nvPr/>
        </p:nvPicPr>
        <p:blipFill>
          <a:blip xmlns:r="http://schemas.openxmlformats.org/officeDocument/2006/relationships" xmlns:a="http://schemas.openxmlformats.org/drawingml/2006/main" r:embed="R169343e52a0f411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ripFit">
            <a:extLst xmlns:a="http://schemas.openxmlformats.org/drawingml/2006/main">
              <a:ext uri="{FF2B5EF4-FFF2-40B4-BE49-F238E27FC236}">
                <a16:creationId xmlns:a16="http://schemas.microsoft.com/office/drawing/2014/main" id="{60E46E95-4CE7-49F7-A079-9B2ACAB10491}"/>
              </a:ext>
            </a:extLst>
          </p:cNvPr>
          <p:cNvSpPr>
            <a:spLocks xmlns:a="http://schemas.openxmlformats.org/drawingml/2006/main" noGrp="1"/>
          </p:cNvSpPr>
          <p:nvPr/>
        </p:nvSpPr>
        <p:spPr>
          <a:xfrm xmlns:a="http://schemas.openxmlformats.org/drawingml/2006/main">
            <a:off x="381000" y="371475"/>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i="0">
                <a:solidFill>
                  <a:srgbClr val="0C1112"/>
                </a:solidFill>
                <a:latin typeface="Arial"/>
                <a:ea typeface="Arial"/>
                <a:cs typeface="Arial"/>
              </a:defRPr>
            </a:defPPr>
          </a:lstStyle>
          <a:p xmlns:a="http://schemas.openxmlformats.org/drawingml/2006/main">
            <a:pPr>
              <a:defRPr sz="1650" b="1" i="0">
                <a:solidFill>
                  <a:srgbClr val="0C1112"/>
                </a:solidFill>
                <a:latin typeface="Arial"/>
                <a:ea typeface="Arial"/>
                <a:cs typeface="Arial"/>
              </a:defRPr>
            </a:pPr>
            <a:r>
              <a:rPr sz="1650" b="1" i="0">
                <a:solidFill>
                  <a:srgbClr val="0C1112"/>
                </a:solidFill>
                <a:latin typeface="Arial"/>
                <a:ea typeface="Arial"/>
                <a:cs typeface="Arial"/>
              </a:rPr>
              <a:t>TripFit</a:t>
            </a:r>
          </a:p>
        </p:txBody>
      </p:sp>
      <p:sp>
        <p:nvSpPr>
          <p:cNvPr id="3" name="PEGASUS&#10;HACKATHON">
            <a:extLst xmlns:a="http://schemas.openxmlformats.org/drawingml/2006/main">
              <a:ext uri="{FF2B5EF4-FFF2-40B4-BE49-F238E27FC236}">
                <a16:creationId xmlns:a16="http://schemas.microsoft.com/office/drawing/2014/main" id="{E42673FC-A527-4DD6-B54D-CDAD0C38CA29}"/>
              </a:ext>
            </a:extLst>
          </p:cNvPr>
          <p:cNvSpPr>
            <a:spLocks xmlns:a="http://schemas.openxmlformats.org/drawingml/2006/main" noGrp="1"/>
          </p:cNvSpPr>
          <p:nvPr/>
        </p:nvSpPr>
        <p:spPr>
          <a:xfrm xmlns:a="http://schemas.openxmlformats.org/drawingml/2006/main">
            <a:off x="2028825" y="352425"/>
            <a:ext cx="6191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PEGASUS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HACKATHON</a:t>
            </a:r>
          </a:p>
        </p:txBody>
      </p:sp>
      <p:sp>
        <p:nvSpPr>
          <p:cNvPr id="4" name="The Pegasus promise">
            <a:extLst xmlns:a="http://schemas.openxmlformats.org/drawingml/2006/main">
              <a:ext uri="{FF2B5EF4-FFF2-40B4-BE49-F238E27FC236}">
                <a16:creationId xmlns:a16="http://schemas.microsoft.com/office/drawing/2014/main" id="{010B330D-E63F-4904-B23E-BA22E3ECBB73}"/>
              </a:ext>
            </a:extLst>
          </p:cNvPr>
          <p:cNvSpPr>
            <a:spLocks xmlns:a="http://schemas.openxmlformats.org/drawingml/2006/main" noGrp="1"/>
          </p:cNvSpPr>
          <p:nvPr/>
        </p:nvSpPr>
        <p:spPr>
          <a:xfrm xmlns:a="http://schemas.openxmlformats.org/drawingml/2006/main">
            <a:off x="8667750" y="457200"/>
            <a:ext cx="3133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343D42"/>
                </a:solidFill>
                <a:latin typeface="Arial"/>
                <a:ea typeface="Arial"/>
                <a:cs typeface="Arial"/>
              </a:defRPr>
            </a:defPPr>
          </a:lstStyle>
          <a:p xmlns:a="http://schemas.openxmlformats.org/drawingml/2006/main">
            <a:pPr>
              <a:defRPr sz="1350" b="0" i="0">
                <a:solidFill>
                  <a:srgbClr val="343D42"/>
                </a:solidFill>
                <a:latin typeface="Arial"/>
                <a:ea typeface="Arial"/>
                <a:cs typeface="Arial"/>
              </a:defRPr>
            </a:pPr>
            <a:r>
              <a:rPr sz="1350" b="0" i="0">
                <a:solidFill>
                  <a:srgbClr val="343D42"/>
                </a:solidFill>
                <a:latin typeface="Arial"/>
                <a:ea typeface="Arial"/>
                <a:cs typeface="Arial"/>
              </a:rPr>
              <a:t>The Pegasus promise</a:t>
            </a:r>
          </a:p>
        </p:txBody>
      </p:sp>
      <p:sp>
        <p:nvSpPr>
          <p:cNvPr id="5" name="Editorial divider">
            <a:extLst xmlns:a="http://schemas.openxmlformats.org/drawingml/2006/main">
              <a:ext uri="{FF2B5EF4-FFF2-40B4-BE49-F238E27FC236}">
                <a16:creationId xmlns:a16="http://schemas.microsoft.com/office/drawing/2014/main" id="{6F88534B-BC68-4C9D-95F0-3C71A00D3140}"/>
              </a:ext>
            </a:extLst>
          </p:cNvPr>
          <p:cNvSpPr>
            <a:spLocks xmlns:a="http://schemas.openxmlformats.org/drawingml/2006/main" noGrp="1"/>
          </p:cNvSpPr>
          <p:nvPr/>
        </p:nvSpPr>
        <p:spPr>
          <a:xfrm xmlns:a="http://schemas.openxmlformats.org/drawingml/2006/main">
            <a:off x="371475" y="1257300"/>
            <a:ext cx="11439525" cy="9525"/>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6" name="Editorial divider">
            <a:extLst xmlns:a="http://schemas.openxmlformats.org/drawingml/2006/main">
              <a:ext uri="{FF2B5EF4-FFF2-40B4-BE49-F238E27FC236}">
                <a16:creationId xmlns:a16="http://schemas.microsoft.com/office/drawing/2014/main" id="{15BB1D2E-C740-4F03-A0F1-8D961C07EB76}"/>
              </a:ext>
            </a:extLst>
          </p:cNvPr>
          <p:cNvSpPr>
            <a:spLocks xmlns:a="http://schemas.openxmlformats.org/drawingml/2006/main" noGrp="1"/>
          </p:cNvSpPr>
          <p:nvPr/>
        </p:nvSpPr>
        <p:spPr>
          <a:xfrm xmlns:a="http://schemas.openxmlformats.org/drawingml/2006/main">
            <a:off x="1704975" y="361950"/>
            <a:ext cx="9525" cy="6134100"/>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7" name="02">
            <a:extLst xmlns:a="http://schemas.openxmlformats.org/drawingml/2006/main">
              <a:ext uri="{FF2B5EF4-FFF2-40B4-BE49-F238E27FC236}">
                <a16:creationId xmlns:a16="http://schemas.microsoft.com/office/drawing/2014/main" id="{C65D1226-F982-4294-BBAD-6EAADDC4A8CB}"/>
              </a:ext>
            </a:extLst>
          </p:cNvPr>
          <p:cNvSpPr>
            <a:spLocks xmlns:a="http://schemas.openxmlformats.org/drawingml/2006/main" noGrp="1"/>
          </p:cNvSpPr>
          <p:nvPr/>
        </p:nvSpPr>
        <p:spPr>
          <a:xfrm xmlns:a="http://schemas.openxmlformats.org/drawingml/2006/main">
            <a:off x="390525" y="15811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i="0">
                <a:solidFill>
                  <a:srgbClr val="0C1112"/>
                </a:solidFill>
                <a:latin typeface="Arial"/>
                <a:ea typeface="Arial"/>
                <a:cs typeface="Arial"/>
              </a:defRPr>
            </a:defPPr>
          </a:lstStyle>
          <a:p xmlns:a="http://schemas.openxmlformats.org/drawingml/2006/main">
            <a:pPr>
              <a:defRPr sz="1725" b="1" i="0">
                <a:solidFill>
                  <a:srgbClr val="0C1112"/>
                </a:solidFill>
                <a:latin typeface="Arial"/>
                <a:ea typeface="Arial"/>
                <a:cs typeface="Arial"/>
              </a:defRPr>
            </a:pPr>
            <a:r>
              <a:rPr sz="1725" b="1" i="0">
                <a:solidFill>
                  <a:srgbClr val="0C1112"/>
                </a:solidFill>
                <a:latin typeface="Arial"/>
                <a:ea typeface="Arial"/>
                <a:cs typeface="Arial"/>
              </a:rPr>
              <a:t>02</a:t>
            </a:r>
          </a:p>
        </p:txBody>
      </p:sp>
      <p:sp>
        <p:nvSpPr>
          <p:cNvPr id="8" name="09 OCT 2026">
            <a:extLst xmlns:a="http://schemas.openxmlformats.org/drawingml/2006/main">
              <a:ext uri="{FF2B5EF4-FFF2-40B4-BE49-F238E27FC236}">
                <a16:creationId xmlns:a16="http://schemas.microsoft.com/office/drawing/2014/main" id="{540011CA-828D-4E64-A0B4-CAC7FC2311F6}"/>
              </a:ext>
            </a:extLst>
          </p:cNvPr>
          <p:cNvSpPr>
            <a:spLocks xmlns:a="http://schemas.openxmlformats.org/drawingml/2006/main" noGrp="1"/>
          </p:cNvSpPr>
          <p:nvPr/>
        </p:nvSpPr>
        <p:spPr>
          <a:xfrm xmlns:a="http://schemas.openxmlformats.org/drawingml/2006/main">
            <a:off x="381000" y="614362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i="0">
                <a:solidFill>
                  <a:srgbClr val="343D42"/>
                </a:solidFill>
                <a:latin typeface="Arial"/>
                <a:ea typeface="Arial"/>
                <a:cs typeface="Arial"/>
              </a:defRPr>
            </a:defPPr>
          </a:lstStyle>
          <a:p xmlns:a="http://schemas.openxmlformats.org/drawingml/2006/main">
            <a:pPr>
              <a:defRPr sz="975" b="0" i="0">
                <a:solidFill>
                  <a:srgbClr val="343D42"/>
                </a:solidFill>
                <a:latin typeface="Arial"/>
                <a:ea typeface="Arial"/>
                <a:cs typeface="Arial"/>
              </a:defRPr>
            </a:pPr>
            <a:r>
              <a:rPr sz="975" b="0" i="0">
                <a:solidFill>
                  <a:srgbClr val="343D42"/>
                </a:solidFill>
                <a:latin typeface="Arial"/>
                <a:ea typeface="Arial"/>
                <a:cs typeface="Arial"/>
              </a:rPr>
              <a:t>09 OCT 2026</a:t>
            </a:r>
          </a:p>
        </p:txBody>
      </p:sp>
      <p:sp>
        <p:nvSpPr>
          <p:cNvPr id="9" name="What makes Pegasus,&#10;Pegasus?">
            <a:extLst xmlns:a="http://schemas.openxmlformats.org/drawingml/2006/main">
              <a:ext uri="{FF2B5EF4-FFF2-40B4-BE49-F238E27FC236}">
                <a16:creationId xmlns:a16="http://schemas.microsoft.com/office/drawing/2014/main" id="{5008D66C-1D66-4F6B-A230-9AFD3B12244D}"/>
              </a:ext>
            </a:extLst>
          </p:cNvPr>
          <p:cNvSpPr>
            <a:spLocks xmlns:a="http://schemas.openxmlformats.org/drawingml/2006/main" noGrp="1"/>
          </p:cNvSpPr>
          <p:nvPr/>
        </p:nvSpPr>
        <p:spPr>
          <a:xfrm xmlns:a="http://schemas.openxmlformats.org/drawingml/2006/main">
            <a:off x="2019300" y="1571625"/>
            <a:ext cx="94488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i="0">
                <a:solidFill>
                  <a:srgbClr val="0C1112"/>
                </a:solidFill>
                <a:latin typeface="Arial"/>
                <a:ea typeface="Arial"/>
                <a:cs typeface="Arial"/>
              </a:defRPr>
            </a:defPPr>
          </a:lstStyle>
          <a:p xmlns:a="http://schemas.openxmlformats.org/drawingml/2006/main">
            <a:pPr>
              <a:defRPr sz="4200" b="1" i="0">
                <a:solidFill>
                  <a:srgbClr val="0C1112"/>
                </a:solidFill>
                <a:latin typeface="Arial"/>
                <a:ea typeface="Arial"/>
                <a:cs typeface="Arial"/>
              </a:defRPr>
            </a:pPr>
            <a:r>
              <a:rPr sz="4200" b="1" i="0">
                <a:solidFill>
                  <a:srgbClr val="0C1112"/>
                </a:solidFill>
                <a:latin typeface="Arial"/>
                <a:ea typeface="Arial"/>
                <a:cs typeface="Arial"/>
              </a:rPr>
              <a:t>What makes Pegasus,</a:t>
            </a:r>
          </a:p>
          <a:p xmlns:a="http://schemas.openxmlformats.org/drawingml/2006/main">
            <a:pPr>
              <a:defRPr sz="4200" b="1" i="0">
                <a:solidFill>
                  <a:srgbClr val="0C1112"/>
                </a:solidFill>
                <a:latin typeface="Arial"/>
                <a:ea typeface="Arial"/>
                <a:cs typeface="Arial"/>
              </a:defRPr>
            </a:pPr>
            <a:r>
              <a:rPr sz="4200" b="1" i="0">
                <a:solidFill>
                  <a:srgbClr val="0C1112"/>
                </a:solidFill>
                <a:latin typeface="Arial"/>
                <a:ea typeface="Arial"/>
                <a:cs typeface="Arial"/>
              </a:rPr>
              <a:t>Pegasus?</a:t>
            </a:r>
          </a:p>
        </p:txBody>
      </p:sp>
      <p:sp>
        <p:nvSpPr>
          <p:cNvPr id="10" name="“Everyone has the right to fly”">
            <a:extLst xmlns:a="http://schemas.openxmlformats.org/drawingml/2006/main">
              <a:ext uri="{FF2B5EF4-FFF2-40B4-BE49-F238E27FC236}">
                <a16:creationId xmlns:a16="http://schemas.microsoft.com/office/drawing/2014/main" id="{AB8BE12E-FA8D-40CF-A627-0363DE13606E}"/>
              </a:ext>
            </a:extLst>
          </p:cNvPr>
          <p:cNvSpPr>
            <a:spLocks xmlns:a="http://schemas.openxmlformats.org/drawingml/2006/main" noGrp="1"/>
          </p:cNvSpPr>
          <p:nvPr/>
        </p:nvSpPr>
        <p:spPr>
          <a:xfrm xmlns:a="http://schemas.openxmlformats.org/drawingml/2006/main">
            <a:off x="2038350" y="32575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i="0">
                <a:solidFill>
                  <a:srgbClr val="0C1112"/>
                </a:solidFill>
                <a:latin typeface="Arial"/>
                <a:ea typeface="Arial"/>
                <a:cs typeface="Arial"/>
              </a:defRPr>
            </a:defPPr>
          </a:lstStyle>
          <a:p xmlns:a="http://schemas.openxmlformats.org/drawingml/2006/main">
            <a:pPr>
              <a:defRPr sz="3450" b="1" i="0">
                <a:solidFill>
                  <a:srgbClr val="0C1112"/>
                </a:solidFill>
                <a:latin typeface="Arial"/>
                <a:ea typeface="Arial"/>
                <a:cs typeface="Arial"/>
              </a:defRPr>
            </a:pPr>
            <a:r>
              <a:rPr sz="3450" b="1" i="0">
                <a:solidFill>
                  <a:srgbClr val="0C1112"/>
                </a:solidFill>
                <a:latin typeface="Arial"/>
                <a:ea typeface="Arial"/>
                <a:cs typeface="Arial"/>
              </a:rPr>
              <a:t>“Everyone has the right to fly”</a:t>
            </a:r>
          </a:p>
        </p:txBody>
      </p:sp>
      <p:sp>
        <p:nvSpPr>
          <p:cNvPr id="11" name="Affordable access">
            <a:extLst xmlns:a="http://schemas.openxmlformats.org/drawingml/2006/main">
              <a:ext uri="{FF2B5EF4-FFF2-40B4-BE49-F238E27FC236}">
                <a16:creationId xmlns:a16="http://schemas.microsoft.com/office/drawing/2014/main" id="{560762D0-54A6-401D-8343-F564B56D357F}"/>
              </a:ext>
            </a:extLst>
          </p:cNvPr>
          <p:cNvSpPr>
            <a:spLocks xmlns:a="http://schemas.openxmlformats.org/drawingml/2006/main" noGrp="1"/>
          </p:cNvSpPr>
          <p:nvPr/>
        </p:nvSpPr>
        <p:spPr>
          <a:xfrm xmlns:a="http://schemas.openxmlformats.org/drawingml/2006/main">
            <a:off x="2038350" y="4495800"/>
            <a:ext cx="2809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i="0">
                <a:solidFill>
                  <a:srgbClr val="0C1112"/>
                </a:solidFill>
                <a:latin typeface="Arial"/>
                <a:ea typeface="Arial"/>
                <a:cs typeface="Arial"/>
              </a:defRPr>
            </a:defPPr>
          </a:lstStyle>
          <a:p xmlns:a="http://schemas.openxmlformats.org/drawingml/2006/main">
            <a:pPr>
              <a:defRPr sz="2100" b="1" i="0">
                <a:solidFill>
                  <a:srgbClr val="0C1112"/>
                </a:solidFill>
                <a:latin typeface="Arial"/>
                <a:ea typeface="Arial"/>
                <a:cs typeface="Arial"/>
              </a:defRPr>
            </a:pPr>
            <a:r>
              <a:rPr sz="2100" b="1" i="0">
                <a:solidFill>
                  <a:srgbClr val="0C1112"/>
                </a:solidFill>
                <a:latin typeface="Arial"/>
                <a:ea typeface="Arial"/>
                <a:cs typeface="Arial"/>
              </a:rPr>
              <a:t>Affordable access</a:t>
            </a:r>
          </a:p>
        </p:txBody>
      </p:sp>
      <p:sp>
        <p:nvSpPr>
          <p:cNvPr id="12" name="Help passengers find&#10;a workable journey.">
            <a:extLst xmlns:a="http://schemas.openxmlformats.org/drawingml/2006/main">
              <a:ext uri="{FF2B5EF4-FFF2-40B4-BE49-F238E27FC236}">
                <a16:creationId xmlns:a16="http://schemas.microsoft.com/office/drawing/2014/main" id="{1A28163D-866F-45E8-A415-40A645A307F8}"/>
              </a:ext>
            </a:extLst>
          </p:cNvPr>
          <p:cNvSpPr>
            <a:spLocks xmlns:a="http://schemas.openxmlformats.org/drawingml/2006/main" noGrp="1"/>
          </p:cNvSpPr>
          <p:nvPr/>
        </p:nvSpPr>
        <p:spPr>
          <a:xfrm xmlns:a="http://schemas.openxmlformats.org/drawingml/2006/main">
            <a:off x="2038350" y="5095875"/>
            <a:ext cx="27336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Help passengers find</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a workable journey.</a:t>
            </a:r>
          </a:p>
        </p:txBody>
      </p:sp>
      <p:sp>
        <p:nvSpPr>
          <p:cNvPr id="13" name="Freedom to choose">
            <a:extLst xmlns:a="http://schemas.openxmlformats.org/drawingml/2006/main">
              <a:ext uri="{FF2B5EF4-FFF2-40B4-BE49-F238E27FC236}">
                <a16:creationId xmlns:a16="http://schemas.microsoft.com/office/drawing/2014/main" id="{7BF3218D-FA7E-42C9-A89B-0DE547DE7ADC}"/>
              </a:ext>
            </a:extLst>
          </p:cNvPr>
          <p:cNvSpPr>
            <a:spLocks xmlns:a="http://schemas.openxmlformats.org/drawingml/2006/main" noGrp="1"/>
          </p:cNvSpPr>
          <p:nvPr/>
        </p:nvSpPr>
        <p:spPr>
          <a:xfrm xmlns:a="http://schemas.openxmlformats.org/drawingml/2006/main">
            <a:off x="5238750" y="4495800"/>
            <a:ext cx="2933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i="0">
                <a:solidFill>
                  <a:srgbClr val="0C1112"/>
                </a:solidFill>
                <a:latin typeface="Arial"/>
                <a:ea typeface="Arial"/>
                <a:cs typeface="Arial"/>
              </a:defRPr>
            </a:defPPr>
          </a:lstStyle>
          <a:p xmlns:a="http://schemas.openxmlformats.org/drawingml/2006/main">
            <a:pPr>
              <a:defRPr sz="2100" b="1" i="0">
                <a:solidFill>
                  <a:srgbClr val="0C1112"/>
                </a:solidFill>
                <a:latin typeface="Arial"/>
                <a:ea typeface="Arial"/>
                <a:cs typeface="Arial"/>
              </a:defRPr>
            </a:pPr>
            <a:r>
              <a:rPr sz="2100" b="1" i="0">
                <a:solidFill>
                  <a:srgbClr val="0C1112"/>
                </a:solidFill>
                <a:latin typeface="Arial"/>
                <a:ea typeface="Arial"/>
                <a:cs typeface="Arial"/>
              </a:rPr>
              <a:t>Freedom to choose</a:t>
            </a:r>
          </a:p>
        </p:txBody>
      </p:sp>
      <p:sp>
        <p:nvSpPr>
          <p:cNvPr id="14" name="Recommend extras&#10;that fit their needs.">
            <a:extLst xmlns:a="http://schemas.openxmlformats.org/drawingml/2006/main">
              <a:ext uri="{FF2B5EF4-FFF2-40B4-BE49-F238E27FC236}">
                <a16:creationId xmlns:a16="http://schemas.microsoft.com/office/drawing/2014/main" id="{BE80D44A-AE48-4522-8432-FD2540AE5C73}"/>
              </a:ext>
            </a:extLst>
          </p:cNvPr>
          <p:cNvSpPr>
            <a:spLocks xmlns:a="http://schemas.openxmlformats.org/drawingml/2006/main" noGrp="1"/>
          </p:cNvSpPr>
          <p:nvPr/>
        </p:nvSpPr>
        <p:spPr>
          <a:xfrm xmlns:a="http://schemas.openxmlformats.org/drawingml/2006/main">
            <a:off x="5238750" y="50958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Recommend extras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that fit their needs.</a:t>
            </a:r>
          </a:p>
        </p:txBody>
      </p:sp>
      <p:sp>
        <p:nvSpPr>
          <p:cNvPr id="15" name="Digital convenience">
            <a:extLst xmlns:a="http://schemas.openxmlformats.org/drawingml/2006/main">
              <a:ext uri="{FF2B5EF4-FFF2-40B4-BE49-F238E27FC236}">
                <a16:creationId xmlns:a16="http://schemas.microsoft.com/office/drawing/2014/main" id="{A3FEEDD9-EAC8-44DE-8241-67DE33C65781}"/>
              </a:ext>
            </a:extLst>
          </p:cNvPr>
          <p:cNvSpPr>
            <a:spLocks xmlns:a="http://schemas.openxmlformats.org/drawingml/2006/main" noGrp="1"/>
          </p:cNvSpPr>
          <p:nvPr/>
        </p:nvSpPr>
        <p:spPr>
          <a:xfrm xmlns:a="http://schemas.openxmlformats.org/drawingml/2006/main">
            <a:off x="8486775" y="4495800"/>
            <a:ext cx="30765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i="0">
                <a:solidFill>
                  <a:srgbClr val="0C1112"/>
                </a:solidFill>
                <a:latin typeface="Arial"/>
                <a:ea typeface="Arial"/>
                <a:cs typeface="Arial"/>
              </a:defRPr>
            </a:defPPr>
          </a:lstStyle>
          <a:p xmlns:a="http://schemas.openxmlformats.org/drawingml/2006/main">
            <a:pPr>
              <a:defRPr sz="2100" b="1" i="0">
                <a:solidFill>
                  <a:srgbClr val="0C1112"/>
                </a:solidFill>
                <a:latin typeface="Arial"/>
                <a:ea typeface="Arial"/>
                <a:cs typeface="Arial"/>
              </a:defRPr>
            </a:pPr>
            <a:r>
              <a:rPr sz="2100" b="1" i="0">
                <a:solidFill>
                  <a:srgbClr val="0C1112"/>
                </a:solidFill>
                <a:latin typeface="Arial"/>
                <a:ea typeface="Arial"/>
                <a:cs typeface="Arial"/>
              </a:rPr>
              <a:t>Digital convenience</a:t>
            </a:r>
          </a:p>
        </p:txBody>
      </p:sp>
      <p:sp>
        <p:nvSpPr>
          <p:cNvPr id="16" name="Reduce repeated effort&#10;without taking control.">
            <a:extLst xmlns:a="http://schemas.openxmlformats.org/drawingml/2006/main">
              <a:ext uri="{FF2B5EF4-FFF2-40B4-BE49-F238E27FC236}">
                <a16:creationId xmlns:a16="http://schemas.microsoft.com/office/drawing/2014/main" id="{D879B933-D14D-4B4F-8DA4-5FC65E5D51B7}"/>
              </a:ext>
            </a:extLst>
          </p:cNvPr>
          <p:cNvSpPr>
            <a:spLocks xmlns:a="http://schemas.openxmlformats.org/drawingml/2006/main" noGrp="1"/>
          </p:cNvSpPr>
          <p:nvPr/>
        </p:nvSpPr>
        <p:spPr>
          <a:xfrm xmlns:a="http://schemas.openxmlformats.org/drawingml/2006/main">
            <a:off x="8486775" y="5095875"/>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Reduce repeated effort</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without taking control.</a:t>
            </a:r>
          </a:p>
        </p:txBody>
      </p:sp>
      <p:sp>
        <p:nvSpPr>
          <p:cNvPr id="17" name="Pegasus states the promise. TripFit translates it ">
            <a:extLst xmlns:a="http://schemas.openxmlformats.org/drawingml/2006/main">
              <a:ext uri="{FF2B5EF4-FFF2-40B4-BE49-F238E27FC236}">
                <a16:creationId xmlns:a16="http://schemas.microsoft.com/office/drawing/2014/main" id="{B600CC47-A00F-4717-BA7E-60ED5904F3EB}"/>
              </a:ext>
            </a:extLst>
          </p:cNvPr>
          <p:cNvSpPr>
            <a:spLocks xmlns:a="http://schemas.openxmlformats.org/drawingml/2006/main" noGrp="1"/>
          </p:cNvSpPr>
          <p:nvPr/>
        </p:nvSpPr>
        <p:spPr>
          <a:xfrm xmlns:a="http://schemas.openxmlformats.org/drawingml/2006/main">
            <a:off x="2028825" y="6229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343D42"/>
                </a:solidFill>
                <a:latin typeface="Arial"/>
                <a:ea typeface="Arial"/>
                <a:cs typeface="Arial"/>
              </a:defRPr>
            </a:defPPr>
          </a:lstStyle>
          <a:p xmlns:a="http://schemas.openxmlformats.org/drawingml/2006/main">
            <a:pPr>
              <a:defRPr sz="1050" b="0" i="0">
                <a:solidFill>
                  <a:srgbClr val="343D42"/>
                </a:solidFill>
                <a:latin typeface="Arial"/>
                <a:ea typeface="Arial"/>
                <a:cs typeface="Arial"/>
              </a:defRPr>
            </a:pPr>
            <a:r>
              <a:rPr sz="1050" b="0" i="0">
                <a:solidFill>
                  <a:srgbClr val="343D42"/>
                </a:solidFill>
                <a:latin typeface="Arial"/>
                <a:ea typeface="Arial"/>
                <a:cs typeface="Arial"/>
              </a:rPr>
              <a:t>Pegasus states the promise. TripFit translates it into a product hypothesis for planning and booking.</a:t>
            </a:r>
          </a:p>
        </p:txBody>
      </p:sp>
    </p:spTree>
    <p:extLst>
      <p:ext uri="{BB962C8B-B14F-4D97-AF65-F5344CB8AC3E}">
        <p14:creationId xmlns:p14="http://schemas.microsoft.com/office/powerpoint/2010/main" val="19374213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ADF420D4-CB1C-4167-A086-1108A64504AB}"/>
              </a:ext>
            </a:extLst>
          </p:cNvPr>
          <p:cNvPicPr>
            <a:picLocks xmlns:a="http://schemas.openxmlformats.org/drawingml/2006/main" noChangeAspect="1"/>
          </p:cNvPicPr>
          <p:nvPr/>
        </p:nvPicPr>
        <p:blipFill>
          <a:blip xmlns:r="http://schemas.openxmlformats.org/officeDocument/2006/relationships" xmlns:a="http://schemas.openxmlformats.org/drawingml/2006/main" r:embed="Rc5c0b0da45ff475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ripFit">
            <a:extLst xmlns:a="http://schemas.openxmlformats.org/drawingml/2006/main">
              <a:ext uri="{FF2B5EF4-FFF2-40B4-BE49-F238E27FC236}">
                <a16:creationId xmlns:a16="http://schemas.microsoft.com/office/drawing/2014/main" id="{029DA57A-3B1A-44B4-B987-972993B234CC}"/>
              </a:ext>
            </a:extLst>
          </p:cNvPr>
          <p:cNvSpPr>
            <a:spLocks xmlns:a="http://schemas.openxmlformats.org/drawingml/2006/main" noGrp="1"/>
          </p:cNvSpPr>
          <p:nvPr/>
        </p:nvSpPr>
        <p:spPr>
          <a:xfrm xmlns:a="http://schemas.openxmlformats.org/drawingml/2006/main">
            <a:off x="381000" y="371475"/>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i="0">
                <a:solidFill>
                  <a:srgbClr val="0C1112"/>
                </a:solidFill>
                <a:latin typeface="Arial"/>
                <a:ea typeface="Arial"/>
                <a:cs typeface="Arial"/>
              </a:defRPr>
            </a:defPPr>
          </a:lstStyle>
          <a:p xmlns:a="http://schemas.openxmlformats.org/drawingml/2006/main">
            <a:pPr>
              <a:defRPr sz="1650" b="1" i="0">
                <a:solidFill>
                  <a:srgbClr val="0C1112"/>
                </a:solidFill>
                <a:latin typeface="Arial"/>
                <a:ea typeface="Arial"/>
                <a:cs typeface="Arial"/>
              </a:defRPr>
            </a:pPr>
            <a:r>
              <a:rPr sz="1650" b="1" i="0">
                <a:solidFill>
                  <a:srgbClr val="0C1112"/>
                </a:solidFill>
                <a:latin typeface="Arial"/>
                <a:ea typeface="Arial"/>
                <a:cs typeface="Arial"/>
              </a:rPr>
              <a:t>TripFit</a:t>
            </a:r>
          </a:p>
        </p:txBody>
      </p:sp>
      <p:sp>
        <p:nvSpPr>
          <p:cNvPr id="3" name="PEGASUS&#10;HACKATHON">
            <a:extLst xmlns:a="http://schemas.openxmlformats.org/drawingml/2006/main">
              <a:ext uri="{FF2B5EF4-FFF2-40B4-BE49-F238E27FC236}">
                <a16:creationId xmlns:a16="http://schemas.microsoft.com/office/drawing/2014/main" id="{FAA250B1-BEBF-4278-A503-CD3B20CD5D8D}"/>
              </a:ext>
            </a:extLst>
          </p:cNvPr>
          <p:cNvSpPr>
            <a:spLocks xmlns:a="http://schemas.openxmlformats.org/drawingml/2006/main" noGrp="1"/>
          </p:cNvSpPr>
          <p:nvPr/>
        </p:nvSpPr>
        <p:spPr>
          <a:xfrm xmlns:a="http://schemas.openxmlformats.org/drawingml/2006/main">
            <a:off x="2028825" y="352425"/>
            <a:ext cx="6191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PEGASUS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HACKATHON</a:t>
            </a:r>
          </a:p>
        </p:txBody>
      </p:sp>
      <p:sp>
        <p:nvSpPr>
          <p:cNvPr id="4" name="01 / AI trip planner">
            <a:extLst xmlns:a="http://schemas.openxmlformats.org/drawingml/2006/main">
              <a:ext uri="{FF2B5EF4-FFF2-40B4-BE49-F238E27FC236}">
                <a16:creationId xmlns:a16="http://schemas.microsoft.com/office/drawing/2014/main" id="{0AC161B2-8EE3-42F9-B8A7-E5A3F2206843}"/>
              </a:ext>
            </a:extLst>
          </p:cNvPr>
          <p:cNvSpPr>
            <a:spLocks xmlns:a="http://schemas.openxmlformats.org/drawingml/2006/main" noGrp="1"/>
          </p:cNvSpPr>
          <p:nvPr/>
        </p:nvSpPr>
        <p:spPr>
          <a:xfrm xmlns:a="http://schemas.openxmlformats.org/drawingml/2006/main">
            <a:off x="8667750" y="457200"/>
            <a:ext cx="3133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343D42"/>
                </a:solidFill>
                <a:latin typeface="Arial"/>
                <a:ea typeface="Arial"/>
                <a:cs typeface="Arial"/>
              </a:defRPr>
            </a:defPPr>
          </a:lstStyle>
          <a:p xmlns:a="http://schemas.openxmlformats.org/drawingml/2006/main">
            <a:pPr>
              <a:defRPr sz="1350" b="0" i="0">
                <a:solidFill>
                  <a:srgbClr val="343D42"/>
                </a:solidFill>
                <a:latin typeface="Arial"/>
                <a:ea typeface="Arial"/>
                <a:cs typeface="Arial"/>
              </a:defRPr>
            </a:pPr>
            <a:r>
              <a:rPr sz="1350" b="0" i="0">
                <a:solidFill>
                  <a:srgbClr val="343D42"/>
                </a:solidFill>
                <a:latin typeface="Arial"/>
                <a:ea typeface="Arial"/>
                <a:cs typeface="Arial"/>
              </a:rPr>
              <a:t>01 / AI trip planner</a:t>
            </a:r>
          </a:p>
        </p:txBody>
      </p:sp>
      <p:sp>
        <p:nvSpPr>
          <p:cNvPr id="5" name="Editorial divider">
            <a:extLst xmlns:a="http://schemas.openxmlformats.org/drawingml/2006/main">
              <a:ext uri="{FF2B5EF4-FFF2-40B4-BE49-F238E27FC236}">
                <a16:creationId xmlns:a16="http://schemas.microsoft.com/office/drawing/2014/main" id="{39236CA8-8F50-4A53-8E72-B3F9948880FD}"/>
              </a:ext>
            </a:extLst>
          </p:cNvPr>
          <p:cNvSpPr>
            <a:spLocks xmlns:a="http://schemas.openxmlformats.org/drawingml/2006/main" noGrp="1"/>
          </p:cNvSpPr>
          <p:nvPr/>
        </p:nvSpPr>
        <p:spPr>
          <a:xfrm xmlns:a="http://schemas.openxmlformats.org/drawingml/2006/main">
            <a:off x="371475" y="1257300"/>
            <a:ext cx="11439525" cy="9525"/>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6" name="Editorial divider">
            <a:extLst xmlns:a="http://schemas.openxmlformats.org/drawingml/2006/main">
              <a:ext uri="{FF2B5EF4-FFF2-40B4-BE49-F238E27FC236}">
                <a16:creationId xmlns:a16="http://schemas.microsoft.com/office/drawing/2014/main" id="{4F2F66A6-0A21-4C6F-A72B-0856013D87F5}"/>
              </a:ext>
            </a:extLst>
          </p:cNvPr>
          <p:cNvSpPr>
            <a:spLocks xmlns:a="http://schemas.openxmlformats.org/drawingml/2006/main" noGrp="1"/>
          </p:cNvSpPr>
          <p:nvPr/>
        </p:nvSpPr>
        <p:spPr>
          <a:xfrm xmlns:a="http://schemas.openxmlformats.org/drawingml/2006/main">
            <a:off x="1704975" y="361950"/>
            <a:ext cx="9525" cy="6134100"/>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7" name="03">
            <a:extLst xmlns:a="http://schemas.openxmlformats.org/drawingml/2006/main">
              <a:ext uri="{FF2B5EF4-FFF2-40B4-BE49-F238E27FC236}">
                <a16:creationId xmlns:a16="http://schemas.microsoft.com/office/drawing/2014/main" id="{ED1CBC66-1850-49F1-B8C0-72CA186E2C25}"/>
              </a:ext>
            </a:extLst>
          </p:cNvPr>
          <p:cNvSpPr>
            <a:spLocks xmlns:a="http://schemas.openxmlformats.org/drawingml/2006/main" noGrp="1"/>
          </p:cNvSpPr>
          <p:nvPr/>
        </p:nvSpPr>
        <p:spPr>
          <a:xfrm xmlns:a="http://schemas.openxmlformats.org/drawingml/2006/main">
            <a:off x="390525" y="15811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i="0">
                <a:solidFill>
                  <a:srgbClr val="0C1112"/>
                </a:solidFill>
                <a:latin typeface="Arial"/>
                <a:ea typeface="Arial"/>
                <a:cs typeface="Arial"/>
              </a:defRPr>
            </a:defPPr>
          </a:lstStyle>
          <a:p xmlns:a="http://schemas.openxmlformats.org/drawingml/2006/main">
            <a:pPr>
              <a:defRPr sz="1725" b="1" i="0">
                <a:solidFill>
                  <a:srgbClr val="0C1112"/>
                </a:solidFill>
                <a:latin typeface="Arial"/>
                <a:ea typeface="Arial"/>
                <a:cs typeface="Arial"/>
              </a:defRPr>
            </a:pPr>
            <a:r>
              <a:rPr sz="1725" b="1" i="0">
                <a:solidFill>
                  <a:srgbClr val="0C1112"/>
                </a:solidFill>
                <a:latin typeface="Arial"/>
                <a:ea typeface="Arial"/>
                <a:cs typeface="Arial"/>
              </a:rPr>
              <a:t>03</a:t>
            </a:r>
          </a:p>
        </p:txBody>
      </p:sp>
      <p:sp>
        <p:nvSpPr>
          <p:cNvPr id="8" name="09 OCT 2026">
            <a:extLst xmlns:a="http://schemas.openxmlformats.org/drawingml/2006/main">
              <a:ext uri="{FF2B5EF4-FFF2-40B4-BE49-F238E27FC236}">
                <a16:creationId xmlns:a16="http://schemas.microsoft.com/office/drawing/2014/main" id="{CBC566E8-2E68-4200-B9B3-B820CE822EAE}"/>
              </a:ext>
            </a:extLst>
          </p:cNvPr>
          <p:cNvSpPr>
            <a:spLocks xmlns:a="http://schemas.openxmlformats.org/drawingml/2006/main" noGrp="1"/>
          </p:cNvSpPr>
          <p:nvPr/>
        </p:nvSpPr>
        <p:spPr>
          <a:xfrm xmlns:a="http://schemas.openxmlformats.org/drawingml/2006/main">
            <a:off x="381000" y="614362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i="0">
                <a:solidFill>
                  <a:srgbClr val="343D42"/>
                </a:solidFill>
                <a:latin typeface="Arial"/>
                <a:ea typeface="Arial"/>
                <a:cs typeface="Arial"/>
              </a:defRPr>
            </a:defPPr>
          </a:lstStyle>
          <a:p xmlns:a="http://schemas.openxmlformats.org/drawingml/2006/main">
            <a:pPr>
              <a:defRPr sz="975" b="0" i="0">
                <a:solidFill>
                  <a:srgbClr val="343D42"/>
                </a:solidFill>
                <a:latin typeface="Arial"/>
                <a:ea typeface="Arial"/>
                <a:cs typeface="Arial"/>
              </a:defRPr>
            </a:pPr>
            <a:r>
              <a:rPr sz="975" b="0" i="0">
                <a:solidFill>
                  <a:srgbClr val="343D42"/>
                </a:solidFill>
                <a:latin typeface="Arial"/>
                <a:ea typeface="Arial"/>
                <a:cs typeface="Arial"/>
              </a:rPr>
              <a:t>09 OCT 2026</a:t>
            </a:r>
          </a:p>
        </p:txBody>
      </p:sp>
      <p:sp>
        <p:nvSpPr>
          <p:cNvPr id="9" name="A trip plan becomes&#10;a flight search">
            <a:extLst xmlns:a="http://schemas.openxmlformats.org/drawingml/2006/main">
              <a:ext uri="{FF2B5EF4-FFF2-40B4-BE49-F238E27FC236}">
                <a16:creationId xmlns:a16="http://schemas.microsoft.com/office/drawing/2014/main" id="{5A6EFC4A-DAC8-44B9-ADF6-7A3286C21F06}"/>
              </a:ext>
            </a:extLst>
          </p:cNvPr>
          <p:cNvSpPr>
            <a:spLocks xmlns:a="http://schemas.openxmlformats.org/drawingml/2006/main" noGrp="1"/>
          </p:cNvSpPr>
          <p:nvPr/>
        </p:nvSpPr>
        <p:spPr>
          <a:xfrm xmlns:a="http://schemas.openxmlformats.org/drawingml/2006/main">
            <a:off x="2019300" y="1571625"/>
            <a:ext cx="52292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i="0">
                <a:solidFill>
                  <a:srgbClr val="0C1112"/>
                </a:solidFill>
                <a:latin typeface="Arial"/>
                <a:ea typeface="Arial"/>
                <a:cs typeface="Arial"/>
              </a:defRPr>
            </a:defPPr>
          </a:lstStyle>
          <a:p xmlns:a="http://schemas.openxmlformats.org/drawingml/2006/main">
            <a:pPr>
              <a:defRPr sz="3600" b="1" i="0">
                <a:solidFill>
                  <a:srgbClr val="0C1112"/>
                </a:solidFill>
                <a:latin typeface="Arial"/>
                <a:ea typeface="Arial"/>
                <a:cs typeface="Arial"/>
              </a:defRPr>
            </a:pPr>
            <a:r>
              <a:rPr sz="3600" b="1" i="0">
                <a:solidFill>
                  <a:srgbClr val="0C1112"/>
                </a:solidFill>
                <a:latin typeface="Arial"/>
                <a:ea typeface="Arial"/>
                <a:cs typeface="Arial"/>
              </a:rPr>
              <a:t>A trip plan becomes</a:t>
            </a:r>
          </a:p>
          <a:p xmlns:a="http://schemas.openxmlformats.org/drawingml/2006/main">
            <a:pPr>
              <a:defRPr sz="3600" b="1" i="0">
                <a:solidFill>
                  <a:srgbClr val="0C1112"/>
                </a:solidFill>
                <a:latin typeface="Arial"/>
                <a:ea typeface="Arial"/>
                <a:cs typeface="Arial"/>
              </a:defRPr>
            </a:pPr>
            <a:r>
              <a:rPr sz="3600" b="1" i="0">
                <a:solidFill>
                  <a:srgbClr val="0C1112"/>
                </a:solidFill>
                <a:latin typeface="Arial"/>
                <a:ea typeface="Arial"/>
                <a:cs typeface="Arial"/>
              </a:rPr>
              <a:t>a flight search</a:t>
            </a:r>
          </a:p>
        </p:txBody>
      </p:sp>
      <p:sp>
        <p:nvSpPr>
          <p:cNvPr id="10" name="Describe the trip.&#10;Or import an invitation,&#10;event ">
            <a:extLst xmlns:a="http://schemas.openxmlformats.org/drawingml/2006/main">
              <a:ext uri="{FF2B5EF4-FFF2-40B4-BE49-F238E27FC236}">
                <a16:creationId xmlns:a16="http://schemas.microsoft.com/office/drawing/2014/main" id="{2E08677D-7F07-4365-B848-9C138E780BF8}"/>
              </a:ext>
            </a:extLst>
          </p:cNvPr>
          <p:cNvSpPr>
            <a:spLocks xmlns:a="http://schemas.openxmlformats.org/drawingml/2006/main" noGrp="1"/>
          </p:cNvSpPr>
          <p:nvPr/>
        </p:nvSpPr>
        <p:spPr>
          <a:xfrm xmlns:a="http://schemas.openxmlformats.org/drawingml/2006/main">
            <a:off x="2038350" y="3152775"/>
            <a:ext cx="4838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0C1112"/>
                </a:solidFill>
                <a:latin typeface="Arial"/>
                <a:ea typeface="Arial"/>
                <a:cs typeface="Arial"/>
              </a:defRPr>
            </a:defPPr>
          </a:lstStyle>
          <a:p xmlns:a="http://schemas.openxmlformats.org/drawingml/2006/main">
            <a:pPr>
              <a:defRPr sz="2250" b="0" i="0">
                <a:solidFill>
                  <a:srgbClr val="0C1112"/>
                </a:solidFill>
                <a:latin typeface="Arial"/>
                <a:ea typeface="Arial"/>
                <a:cs typeface="Arial"/>
              </a:defRPr>
            </a:pPr>
            <a:r>
              <a:rPr sz="2250" b="0" i="0">
                <a:solidFill>
                  <a:srgbClr val="0C1112"/>
                </a:solidFill>
                <a:latin typeface="Arial"/>
                <a:ea typeface="Arial"/>
                <a:cs typeface="Arial"/>
              </a:rPr>
              <a:t>Describe the trip.</a:t>
            </a:r>
          </a:p>
          <a:p xmlns:a="http://schemas.openxmlformats.org/drawingml/2006/main">
            <a:pPr>
              <a:defRPr sz="2250" b="0" i="0">
                <a:solidFill>
                  <a:srgbClr val="0C1112"/>
                </a:solidFill>
                <a:latin typeface="Arial"/>
                <a:ea typeface="Arial"/>
                <a:cs typeface="Arial"/>
              </a:defRPr>
            </a:pPr>
            <a:r>
              <a:rPr sz="2250" b="0" i="0">
                <a:solidFill>
                  <a:srgbClr val="0C1112"/>
                </a:solidFill>
                <a:latin typeface="Arial"/>
                <a:ea typeface="Arial"/>
                <a:cs typeface="Arial"/>
              </a:rPr>
              <a:t>Or import an invitation,</a:t>
            </a:r>
          </a:p>
          <a:p xmlns:a="http://schemas.openxmlformats.org/drawingml/2006/main">
            <a:pPr>
              <a:defRPr sz="2250" b="0" i="0">
                <a:solidFill>
                  <a:srgbClr val="0C1112"/>
                </a:solidFill>
                <a:latin typeface="Arial"/>
                <a:ea typeface="Arial"/>
                <a:cs typeface="Arial"/>
              </a:defRPr>
            </a:pPr>
            <a:r>
              <a:rPr sz="2250" b="0" i="0">
                <a:solidFill>
                  <a:srgbClr val="0C1112"/>
                </a:solidFill>
                <a:latin typeface="Arial"/>
                <a:ea typeface="Arial"/>
                <a:cs typeface="Arial"/>
              </a:rPr>
              <a:t>event or flight screenshot.</a:t>
            </a:r>
          </a:p>
        </p:txBody>
      </p:sp>
      <p:sp>
        <p:nvSpPr>
          <p:cNvPr id="11" name="Review editable requirements.&#10;Set an arrival or co">
            <a:extLst xmlns:a="http://schemas.openxmlformats.org/drawingml/2006/main">
              <a:ext uri="{FF2B5EF4-FFF2-40B4-BE49-F238E27FC236}">
                <a16:creationId xmlns:a16="http://schemas.microsoft.com/office/drawing/2014/main" id="{95E7F136-26BE-4786-B1FD-CD7503C331DD}"/>
              </a:ext>
            </a:extLst>
          </p:cNvPr>
          <p:cNvSpPr>
            <a:spLocks xmlns:a="http://schemas.openxmlformats.org/drawingml/2006/main" noGrp="1"/>
          </p:cNvSpPr>
          <p:nvPr/>
        </p:nvSpPr>
        <p:spPr>
          <a:xfrm xmlns:a="http://schemas.openxmlformats.org/drawingml/2006/main">
            <a:off x="2038350" y="4638675"/>
            <a:ext cx="4857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Review editable requirements.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Set an arrival or connection buffer.</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Keep important constraints locked.</a:t>
            </a:r>
          </a:p>
        </p:txBody>
      </p:sp>
      <p:pic>
        <p:nvPicPr>
          <p:cNvPr id="12" name="">
            <a:extLst xmlns:a="http://schemas.openxmlformats.org/drawingml/2006/main">
              <a:ext uri="{FF2B5EF4-FFF2-40B4-BE49-F238E27FC236}">
                <a16:creationId xmlns:a16="http://schemas.microsoft.com/office/drawing/2014/main" id="{B6B9A29D-DB9C-47DA-8889-5F7A584C4244}"/>
              </a:ext>
            </a:extLst>
          </p:cNvPr>
          <p:cNvPicPr>
            <a:picLocks xmlns:a="http://schemas.openxmlformats.org/drawingml/2006/main" noChangeAspect="1"/>
          </p:cNvPicPr>
          <p:nvPr/>
        </p:nvPicPr>
        <p:blipFill>
          <a:blip xmlns:r="http://schemas.openxmlformats.org/officeDocument/2006/relationships" xmlns:a="http://schemas.openxmlformats.org/drawingml/2006/main" r:embed="Rdc90df1ed1cb488c"/>
          <a:srcRect xmlns:a="http://schemas.openxmlformats.org/drawingml/2006/main" l="6092" t="8539" r="5862" b="1933"/>
          <a:stretch xmlns:a="http://schemas.openxmlformats.org/drawingml/2006/main"/>
        </p:blipFill>
        <p:spPr>
          <a:xfrm xmlns:a="http://schemas.openxmlformats.org/drawingml/2006/main">
            <a:off x="7239000" y="1581150"/>
            <a:ext cx="2019300" cy="4391025"/>
          </a:xfrm>
          <a:prstGeom xmlns:a="http://schemas.openxmlformats.org/drawingml/2006/main" prst="roundRect">
            <a:avLst>
              <a:gd name="adj" fmla="val 16038"/>
            </a:avLst>
          </a:prstGeom>
        </p:spPr>
      </p:pic>
      <p:pic>
        <p:nvPicPr>
          <p:cNvPr id="13" name="">
            <a:extLst xmlns:a="http://schemas.openxmlformats.org/drawingml/2006/main">
              <a:ext uri="{FF2B5EF4-FFF2-40B4-BE49-F238E27FC236}">
                <a16:creationId xmlns:a16="http://schemas.microsoft.com/office/drawing/2014/main" id="{6C6F2D6E-DB54-41DA-9888-9F424DC023D4}"/>
              </a:ext>
            </a:extLst>
          </p:cNvPr>
          <p:cNvPicPr>
            <a:picLocks xmlns:a="http://schemas.openxmlformats.org/drawingml/2006/main" noChangeAspect="1"/>
          </p:cNvPicPr>
          <p:nvPr/>
        </p:nvPicPr>
        <p:blipFill>
          <a:blip xmlns:r="http://schemas.openxmlformats.org/officeDocument/2006/relationships" xmlns:a="http://schemas.openxmlformats.org/drawingml/2006/main" r:embed="R3d7c7126ce69422a"/>
          <a:srcRect xmlns:a="http://schemas.openxmlformats.org/drawingml/2006/main" l="6092" t="8539" r="5862" b="1933"/>
          <a:stretch xmlns:a="http://schemas.openxmlformats.org/drawingml/2006/main"/>
        </p:blipFill>
        <p:spPr>
          <a:xfrm xmlns:a="http://schemas.openxmlformats.org/drawingml/2006/main">
            <a:off x="9458325" y="1581150"/>
            <a:ext cx="2019300" cy="4391025"/>
          </a:xfrm>
          <a:prstGeom xmlns:a="http://schemas.openxmlformats.org/drawingml/2006/main" prst="roundRect">
            <a:avLst>
              <a:gd name="adj" fmla="val 16038"/>
            </a:avLst>
          </a:prstGeom>
        </p:spPr>
      </p:pic>
      <p:sp>
        <p:nvSpPr>
          <p:cNvPr id="14" name="Real text/image extraction. Incoming flights stay ">
            <a:extLst xmlns:a="http://schemas.openxmlformats.org/drawingml/2006/main">
              <a:ext uri="{FF2B5EF4-FFF2-40B4-BE49-F238E27FC236}">
                <a16:creationId xmlns:a16="http://schemas.microsoft.com/office/drawing/2014/main" id="{E4041660-C15C-4B12-815B-DFF7931889F0}"/>
              </a:ext>
            </a:extLst>
          </p:cNvPr>
          <p:cNvSpPr>
            <a:spLocks xmlns:a="http://schemas.openxmlformats.org/drawingml/2006/main" noGrp="1"/>
          </p:cNvSpPr>
          <p:nvPr/>
        </p:nvSpPr>
        <p:spPr>
          <a:xfrm xmlns:a="http://schemas.openxmlformats.org/drawingml/2006/main">
            <a:off x="2028825" y="6229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343D42"/>
                </a:solidFill>
                <a:latin typeface="Arial"/>
                <a:ea typeface="Arial"/>
                <a:cs typeface="Arial"/>
              </a:defRPr>
            </a:defPPr>
          </a:lstStyle>
          <a:p xmlns:a="http://schemas.openxmlformats.org/drawingml/2006/main">
            <a:pPr>
              <a:defRPr sz="1050" b="0" i="0">
                <a:solidFill>
                  <a:srgbClr val="343D42"/>
                </a:solidFill>
                <a:latin typeface="Arial"/>
                <a:ea typeface="Arial"/>
                <a:cs typeface="Arial"/>
              </a:defRPr>
            </a:pPr>
            <a:r>
              <a:rPr sz="1050" b="0" i="0">
                <a:solidFill>
                  <a:srgbClr val="343D42"/>
                </a:solidFill>
                <a:latin typeface="Arial"/>
                <a:ea typeface="Arial"/>
                <a:cs typeface="Arial"/>
              </a:rPr>
              <a:t>Real text/image extraction. Incoming flights stay separate from onward pricing. Timing buffers do not guarantee a transfer.</a:t>
            </a:r>
          </a:p>
        </p:txBody>
      </p:sp>
    </p:spTree>
    <p:extLst>
      <p:ext uri="{BB962C8B-B14F-4D97-AF65-F5344CB8AC3E}">
        <p14:creationId xmlns:p14="http://schemas.microsoft.com/office/powerpoint/2010/main" val="160024036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C45B4AF-C098-484D-91E7-4076991F1A95}"/>
              </a:ext>
            </a:extLst>
          </p:cNvPr>
          <p:cNvPicPr>
            <a:picLocks xmlns:a="http://schemas.openxmlformats.org/drawingml/2006/main" noChangeAspect="1"/>
          </p:cNvPicPr>
          <p:nvPr/>
        </p:nvPicPr>
        <p:blipFill>
          <a:blip xmlns:r="http://schemas.openxmlformats.org/officeDocument/2006/relationships" xmlns:a="http://schemas.openxmlformats.org/drawingml/2006/main" r:embed="R784e82295ce74c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ripFit">
            <a:extLst xmlns:a="http://schemas.openxmlformats.org/drawingml/2006/main">
              <a:ext uri="{FF2B5EF4-FFF2-40B4-BE49-F238E27FC236}">
                <a16:creationId xmlns:a16="http://schemas.microsoft.com/office/drawing/2014/main" id="{521CB08E-7248-48E1-B25F-D10AF2FE0CE9}"/>
              </a:ext>
            </a:extLst>
          </p:cNvPr>
          <p:cNvSpPr>
            <a:spLocks xmlns:a="http://schemas.openxmlformats.org/drawingml/2006/main" noGrp="1"/>
          </p:cNvSpPr>
          <p:nvPr/>
        </p:nvSpPr>
        <p:spPr>
          <a:xfrm xmlns:a="http://schemas.openxmlformats.org/drawingml/2006/main">
            <a:off x="381000" y="371475"/>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i="0">
                <a:solidFill>
                  <a:srgbClr val="0C1112"/>
                </a:solidFill>
                <a:latin typeface="Arial"/>
                <a:ea typeface="Arial"/>
                <a:cs typeface="Arial"/>
              </a:defRPr>
            </a:defPPr>
          </a:lstStyle>
          <a:p xmlns:a="http://schemas.openxmlformats.org/drawingml/2006/main">
            <a:pPr>
              <a:defRPr sz="1650" b="1" i="0">
                <a:solidFill>
                  <a:srgbClr val="0C1112"/>
                </a:solidFill>
                <a:latin typeface="Arial"/>
                <a:ea typeface="Arial"/>
                <a:cs typeface="Arial"/>
              </a:defRPr>
            </a:pPr>
            <a:r>
              <a:rPr sz="1650" b="1" i="0">
                <a:solidFill>
                  <a:srgbClr val="0C1112"/>
                </a:solidFill>
                <a:latin typeface="Arial"/>
                <a:ea typeface="Arial"/>
                <a:cs typeface="Arial"/>
              </a:rPr>
              <a:t>TripFit</a:t>
            </a:r>
          </a:p>
        </p:txBody>
      </p:sp>
      <p:sp>
        <p:nvSpPr>
          <p:cNvPr id="3" name="PEGASUS&#10;HACKATHON">
            <a:extLst xmlns:a="http://schemas.openxmlformats.org/drawingml/2006/main">
              <a:ext uri="{FF2B5EF4-FFF2-40B4-BE49-F238E27FC236}">
                <a16:creationId xmlns:a16="http://schemas.microsoft.com/office/drawing/2014/main" id="{B653C3F4-0E32-44AE-B7FE-11A3D23E3ACD}"/>
              </a:ext>
            </a:extLst>
          </p:cNvPr>
          <p:cNvSpPr>
            <a:spLocks xmlns:a="http://schemas.openxmlformats.org/drawingml/2006/main" noGrp="1"/>
          </p:cNvSpPr>
          <p:nvPr/>
        </p:nvSpPr>
        <p:spPr>
          <a:xfrm xmlns:a="http://schemas.openxmlformats.org/drawingml/2006/main">
            <a:off x="2028825" y="352425"/>
            <a:ext cx="6191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PEGASUS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HACKATHON</a:t>
            </a:r>
          </a:p>
        </p:txBody>
      </p:sp>
      <p:sp>
        <p:nvSpPr>
          <p:cNvPr id="4" name="02 / Photo packing assistant">
            <a:extLst xmlns:a="http://schemas.openxmlformats.org/drawingml/2006/main">
              <a:ext uri="{FF2B5EF4-FFF2-40B4-BE49-F238E27FC236}">
                <a16:creationId xmlns:a16="http://schemas.microsoft.com/office/drawing/2014/main" id="{5B49883A-2B22-4C89-AC11-AAE66F1C3CA1}"/>
              </a:ext>
            </a:extLst>
          </p:cNvPr>
          <p:cNvSpPr>
            <a:spLocks xmlns:a="http://schemas.openxmlformats.org/drawingml/2006/main" noGrp="1"/>
          </p:cNvSpPr>
          <p:nvPr/>
        </p:nvSpPr>
        <p:spPr>
          <a:xfrm xmlns:a="http://schemas.openxmlformats.org/drawingml/2006/main">
            <a:off x="8667750" y="457200"/>
            <a:ext cx="3133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343D42"/>
                </a:solidFill>
                <a:latin typeface="Arial"/>
                <a:ea typeface="Arial"/>
                <a:cs typeface="Arial"/>
              </a:defRPr>
            </a:defPPr>
          </a:lstStyle>
          <a:p xmlns:a="http://schemas.openxmlformats.org/drawingml/2006/main">
            <a:pPr>
              <a:defRPr sz="1350" b="0" i="0">
                <a:solidFill>
                  <a:srgbClr val="343D42"/>
                </a:solidFill>
                <a:latin typeface="Arial"/>
                <a:ea typeface="Arial"/>
                <a:cs typeface="Arial"/>
              </a:defRPr>
            </a:pPr>
            <a:r>
              <a:rPr sz="1350" b="0" i="0">
                <a:solidFill>
                  <a:srgbClr val="343D42"/>
                </a:solidFill>
                <a:latin typeface="Arial"/>
                <a:ea typeface="Arial"/>
                <a:cs typeface="Arial"/>
              </a:rPr>
              <a:t>02 / Photo packing assistant</a:t>
            </a:r>
          </a:p>
        </p:txBody>
      </p:sp>
      <p:sp>
        <p:nvSpPr>
          <p:cNvPr id="5" name="Editorial divider">
            <a:extLst xmlns:a="http://schemas.openxmlformats.org/drawingml/2006/main">
              <a:ext uri="{FF2B5EF4-FFF2-40B4-BE49-F238E27FC236}">
                <a16:creationId xmlns:a16="http://schemas.microsoft.com/office/drawing/2014/main" id="{E378B9AB-2DA6-47E0-8F1A-DCC4759C5B96}"/>
              </a:ext>
            </a:extLst>
          </p:cNvPr>
          <p:cNvSpPr>
            <a:spLocks xmlns:a="http://schemas.openxmlformats.org/drawingml/2006/main" noGrp="1"/>
          </p:cNvSpPr>
          <p:nvPr/>
        </p:nvSpPr>
        <p:spPr>
          <a:xfrm xmlns:a="http://schemas.openxmlformats.org/drawingml/2006/main">
            <a:off x="371475" y="1257300"/>
            <a:ext cx="11439525" cy="9525"/>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6" name="Editorial divider">
            <a:extLst xmlns:a="http://schemas.openxmlformats.org/drawingml/2006/main">
              <a:ext uri="{FF2B5EF4-FFF2-40B4-BE49-F238E27FC236}">
                <a16:creationId xmlns:a16="http://schemas.microsoft.com/office/drawing/2014/main" id="{F1D36C72-4EBE-4A51-8DA4-3404908CB340}"/>
              </a:ext>
            </a:extLst>
          </p:cNvPr>
          <p:cNvSpPr>
            <a:spLocks xmlns:a="http://schemas.openxmlformats.org/drawingml/2006/main" noGrp="1"/>
          </p:cNvSpPr>
          <p:nvPr/>
        </p:nvSpPr>
        <p:spPr>
          <a:xfrm xmlns:a="http://schemas.openxmlformats.org/drawingml/2006/main">
            <a:off x="1704975" y="361950"/>
            <a:ext cx="9525" cy="6134100"/>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7" name="04">
            <a:extLst xmlns:a="http://schemas.openxmlformats.org/drawingml/2006/main">
              <a:ext uri="{FF2B5EF4-FFF2-40B4-BE49-F238E27FC236}">
                <a16:creationId xmlns:a16="http://schemas.microsoft.com/office/drawing/2014/main" id="{5B552BE0-0CC9-4F64-95DD-D631BCB99874}"/>
              </a:ext>
            </a:extLst>
          </p:cNvPr>
          <p:cNvSpPr>
            <a:spLocks xmlns:a="http://schemas.openxmlformats.org/drawingml/2006/main" noGrp="1"/>
          </p:cNvSpPr>
          <p:nvPr/>
        </p:nvSpPr>
        <p:spPr>
          <a:xfrm xmlns:a="http://schemas.openxmlformats.org/drawingml/2006/main">
            <a:off x="390525" y="15811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i="0">
                <a:solidFill>
                  <a:srgbClr val="0C1112"/>
                </a:solidFill>
                <a:latin typeface="Arial"/>
                <a:ea typeface="Arial"/>
                <a:cs typeface="Arial"/>
              </a:defRPr>
            </a:defPPr>
          </a:lstStyle>
          <a:p xmlns:a="http://schemas.openxmlformats.org/drawingml/2006/main">
            <a:pPr>
              <a:defRPr sz="1725" b="1" i="0">
                <a:solidFill>
                  <a:srgbClr val="0C1112"/>
                </a:solidFill>
                <a:latin typeface="Arial"/>
                <a:ea typeface="Arial"/>
                <a:cs typeface="Arial"/>
              </a:defRPr>
            </a:pPr>
            <a:r>
              <a:rPr sz="1725" b="1" i="0">
                <a:solidFill>
                  <a:srgbClr val="0C1112"/>
                </a:solidFill>
                <a:latin typeface="Arial"/>
                <a:ea typeface="Arial"/>
                <a:cs typeface="Arial"/>
              </a:rPr>
              <a:t>04</a:t>
            </a:r>
          </a:p>
        </p:txBody>
      </p:sp>
      <p:sp>
        <p:nvSpPr>
          <p:cNvPr id="8" name="09 OCT 2026">
            <a:extLst xmlns:a="http://schemas.openxmlformats.org/drawingml/2006/main">
              <a:ext uri="{FF2B5EF4-FFF2-40B4-BE49-F238E27FC236}">
                <a16:creationId xmlns:a16="http://schemas.microsoft.com/office/drawing/2014/main" id="{51FD939E-6357-4041-B42D-93FBF1F85CE8}"/>
              </a:ext>
            </a:extLst>
          </p:cNvPr>
          <p:cNvSpPr>
            <a:spLocks xmlns:a="http://schemas.openxmlformats.org/drawingml/2006/main" noGrp="1"/>
          </p:cNvSpPr>
          <p:nvPr/>
        </p:nvSpPr>
        <p:spPr>
          <a:xfrm xmlns:a="http://schemas.openxmlformats.org/drawingml/2006/main">
            <a:off x="381000" y="614362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i="0">
                <a:solidFill>
                  <a:srgbClr val="343D42"/>
                </a:solidFill>
                <a:latin typeface="Arial"/>
                <a:ea typeface="Arial"/>
                <a:cs typeface="Arial"/>
              </a:defRPr>
            </a:defPPr>
          </a:lstStyle>
          <a:p xmlns:a="http://schemas.openxmlformats.org/drawingml/2006/main">
            <a:pPr>
              <a:defRPr sz="975" b="0" i="0">
                <a:solidFill>
                  <a:srgbClr val="343D42"/>
                </a:solidFill>
                <a:latin typeface="Arial"/>
                <a:ea typeface="Arial"/>
                <a:cs typeface="Arial"/>
              </a:defRPr>
            </a:pPr>
            <a:r>
              <a:rPr sz="975" b="0" i="0">
                <a:solidFill>
                  <a:srgbClr val="343D42"/>
                </a:solidFill>
                <a:latin typeface="Arial"/>
                <a:ea typeface="Arial"/>
                <a:cs typeface="Arial"/>
              </a:rPr>
              <a:t>09 OCT 2026</a:t>
            </a:r>
          </a:p>
        </p:txBody>
      </p:sp>
      <p:sp>
        <p:nvSpPr>
          <p:cNvPr id="9" name="A photo helps choose&#10;the right bag">
            <a:extLst xmlns:a="http://schemas.openxmlformats.org/drawingml/2006/main">
              <a:ext uri="{FF2B5EF4-FFF2-40B4-BE49-F238E27FC236}">
                <a16:creationId xmlns:a16="http://schemas.microsoft.com/office/drawing/2014/main" id="{696B1B50-41BF-4FB7-90CA-D35D20F8F872}"/>
              </a:ext>
            </a:extLst>
          </p:cNvPr>
          <p:cNvSpPr>
            <a:spLocks xmlns:a="http://schemas.openxmlformats.org/drawingml/2006/main" noGrp="1"/>
          </p:cNvSpPr>
          <p:nvPr/>
        </p:nvSpPr>
        <p:spPr>
          <a:xfrm xmlns:a="http://schemas.openxmlformats.org/drawingml/2006/main">
            <a:off x="2019300" y="1571625"/>
            <a:ext cx="70199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i="0">
                <a:solidFill>
                  <a:srgbClr val="0C1112"/>
                </a:solidFill>
                <a:latin typeface="Arial"/>
                <a:ea typeface="Arial"/>
                <a:cs typeface="Arial"/>
              </a:defRPr>
            </a:defPPr>
          </a:lstStyle>
          <a:p xmlns:a="http://schemas.openxmlformats.org/drawingml/2006/main">
            <a:pPr>
              <a:defRPr sz="3825" b="1" i="0">
                <a:solidFill>
                  <a:srgbClr val="0C1112"/>
                </a:solidFill>
                <a:latin typeface="Arial"/>
                <a:ea typeface="Arial"/>
                <a:cs typeface="Arial"/>
              </a:defRPr>
            </a:pPr>
            <a:r>
              <a:rPr sz="3825" b="1" i="0">
                <a:solidFill>
                  <a:srgbClr val="0C1112"/>
                </a:solidFill>
                <a:latin typeface="Arial"/>
                <a:ea typeface="Arial"/>
                <a:cs typeface="Arial"/>
              </a:rPr>
              <a:t>A photo helps choose</a:t>
            </a:r>
          </a:p>
          <a:p xmlns:a="http://schemas.openxmlformats.org/drawingml/2006/main">
            <a:pPr>
              <a:defRPr sz="3825" b="1" i="0">
                <a:solidFill>
                  <a:srgbClr val="0C1112"/>
                </a:solidFill>
                <a:latin typeface="Arial"/>
                <a:ea typeface="Arial"/>
                <a:cs typeface="Arial"/>
              </a:defRPr>
            </a:pPr>
            <a:r>
              <a:rPr sz="3825" b="1" i="0">
                <a:solidFill>
                  <a:srgbClr val="0C1112"/>
                </a:solidFill>
                <a:latin typeface="Arial"/>
                <a:ea typeface="Arial"/>
                <a:cs typeface="Arial"/>
              </a:rPr>
              <a:t>the right bag</a:t>
            </a:r>
          </a:p>
        </p:txBody>
      </p:sp>
      <p:sp>
        <p:nvSpPr>
          <p:cNvPr id="10" name="Vision identifies visible items.&#10;You confirm the w">
            <a:extLst xmlns:a="http://schemas.openxmlformats.org/drawingml/2006/main">
              <a:ext uri="{FF2B5EF4-FFF2-40B4-BE49-F238E27FC236}">
                <a16:creationId xmlns:a16="http://schemas.microsoft.com/office/drawing/2014/main" id="{03670C23-B165-4AB8-8DB2-69993CF0E0F1}"/>
              </a:ext>
            </a:extLst>
          </p:cNvPr>
          <p:cNvSpPr>
            <a:spLocks xmlns:a="http://schemas.openxmlformats.org/drawingml/2006/main" noGrp="1"/>
          </p:cNvSpPr>
          <p:nvPr/>
        </p:nvSpPr>
        <p:spPr>
          <a:xfrm xmlns:a="http://schemas.openxmlformats.org/drawingml/2006/main">
            <a:off x="2038350" y="3114675"/>
            <a:ext cx="68675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i="0">
                <a:solidFill>
                  <a:srgbClr val="0C1112"/>
                </a:solidFill>
                <a:latin typeface="Arial"/>
                <a:ea typeface="Arial"/>
                <a:cs typeface="Arial"/>
              </a:defRPr>
            </a:defPPr>
          </a:lstStyle>
          <a:p xmlns:a="http://schemas.openxmlformats.org/drawingml/2006/main">
            <a:pPr>
              <a:defRPr sz="2100" b="0" i="0">
                <a:solidFill>
                  <a:srgbClr val="0C1112"/>
                </a:solidFill>
                <a:latin typeface="Arial"/>
                <a:ea typeface="Arial"/>
                <a:cs typeface="Arial"/>
              </a:defRPr>
            </a:pPr>
            <a:r>
              <a:rPr sz="2100" b="0" i="0">
                <a:solidFill>
                  <a:srgbClr val="0C1112"/>
                </a:solidFill>
                <a:latin typeface="Arial"/>
                <a:ea typeface="Arial"/>
                <a:cs typeface="Arial"/>
              </a:rPr>
              <a:t>Vision identifies visible items.</a:t>
            </a:r>
          </a:p>
          <a:p xmlns:a="http://schemas.openxmlformats.org/drawingml/2006/main">
            <a:pPr>
              <a:defRPr sz="2100" b="0" i="0">
                <a:solidFill>
                  <a:srgbClr val="0C1112"/>
                </a:solidFill>
                <a:latin typeface="Arial"/>
                <a:ea typeface="Arial"/>
                <a:cs typeface="Arial"/>
              </a:defRPr>
            </a:pPr>
            <a:r>
              <a:rPr sz="2100" b="0" i="0">
                <a:solidFill>
                  <a:srgbClr val="0C1112"/>
                </a:solidFill>
                <a:latin typeface="Arial"/>
                <a:ea typeface="Arial"/>
                <a:cs typeface="Arial"/>
              </a:rPr>
              <a:t>You confirm the weight and size.</a:t>
            </a:r>
          </a:p>
          <a:p xmlns:a="http://schemas.openxmlformats.org/drawingml/2006/main">
            <a:pPr>
              <a:defRPr sz="2100" b="0" i="0">
                <a:solidFill>
                  <a:srgbClr val="0C1112"/>
                </a:solidFill>
                <a:latin typeface="Arial"/>
                <a:ea typeface="Arial"/>
                <a:cs typeface="Arial"/>
              </a:defRPr>
            </a:pPr>
            <a:r>
              <a:rPr sz="2100" b="0" i="0">
                <a:solidFill>
                  <a:srgbClr val="0C1112"/>
                </a:solidFill>
                <a:latin typeface="Arial"/>
                <a:ea typeface="Arial"/>
                <a:cs typeface="Arial"/>
              </a:rPr>
              <a:t>Catalogue rules calculate fit and price.</a:t>
            </a:r>
          </a:p>
        </p:txBody>
      </p:sp>
      <p:pic>
        <p:nvPicPr>
          <p:cNvPr id="11" name="">
            <a:extLst xmlns:a="http://schemas.openxmlformats.org/drawingml/2006/main">
              <a:ext uri="{FF2B5EF4-FFF2-40B4-BE49-F238E27FC236}">
                <a16:creationId xmlns:a16="http://schemas.microsoft.com/office/drawing/2014/main" id="{46C8CD75-27FA-4E57-B44F-6569EA4698D9}"/>
              </a:ext>
            </a:extLst>
          </p:cNvPr>
          <p:cNvPicPr>
            <a:picLocks xmlns:a="http://schemas.openxmlformats.org/drawingml/2006/main" noChangeAspect="1"/>
          </p:cNvPicPr>
          <p:nvPr/>
        </p:nvPicPr>
        <p:blipFill>
          <a:blip xmlns:r="http://schemas.openxmlformats.org/officeDocument/2006/relationships" xmlns:a="http://schemas.openxmlformats.org/drawingml/2006/main" r:embed="Rb4f7ab3a311148ed"/>
          <a:srcRect xmlns:a="http://schemas.openxmlformats.org/drawingml/2006/main" l="0" t="20600" r="0" b="20600"/>
          <a:stretch xmlns:a="http://schemas.openxmlformats.org/drawingml/2006/main">
            <a:fillRect l="0" t="0" r="0" b="0"/>
          </a:stretch>
        </p:blipFill>
        <p:spPr>
          <a:xfrm xmlns:a="http://schemas.openxmlformats.org/drawingml/2006/main">
            <a:off x="2038350" y="4591050"/>
            <a:ext cx="3067050" cy="1352550"/>
          </a:xfrm>
          <a:prstGeom xmlns:a="http://schemas.openxmlformats.org/drawingml/2006/main" prst="roundRect">
            <a:avLst>
              <a:gd name="adj" fmla="val 11268"/>
            </a:avLst>
          </a:prstGeom>
        </p:spPr>
      </p:pic>
      <p:sp>
        <p:nvSpPr>
          <p:cNvPr id="12" name="Keep your allowance,&#10;add a bag or compare&#10;an eligi">
            <a:extLst xmlns:a="http://schemas.openxmlformats.org/drawingml/2006/main">
              <a:ext uri="{FF2B5EF4-FFF2-40B4-BE49-F238E27FC236}">
                <a16:creationId xmlns:a16="http://schemas.microsoft.com/office/drawing/2014/main" id="{DF1586C9-AB8B-40F1-ACC4-C41C29FCE118}"/>
              </a:ext>
            </a:extLst>
          </p:cNvPr>
          <p:cNvSpPr>
            <a:spLocks xmlns:a="http://schemas.openxmlformats.org/drawingml/2006/main" noGrp="1"/>
          </p:cNvSpPr>
          <p:nvPr/>
        </p:nvSpPr>
        <p:spPr>
          <a:xfrm xmlns:a="http://schemas.openxmlformats.org/drawingml/2006/main">
            <a:off x="5495925" y="4686300"/>
            <a:ext cx="33147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0C1112"/>
                </a:solidFill>
                <a:latin typeface="Arial"/>
                <a:ea typeface="Arial"/>
                <a:cs typeface="Arial"/>
              </a:defRPr>
            </a:defPPr>
          </a:lstStyle>
          <a:p xmlns:a="http://schemas.openxmlformats.org/drawingml/2006/main">
            <a:pPr>
              <a:defRPr sz="2025" b="1" i="0">
                <a:solidFill>
                  <a:srgbClr val="0C1112"/>
                </a:solidFill>
                <a:latin typeface="Arial"/>
                <a:ea typeface="Arial"/>
                <a:cs typeface="Arial"/>
              </a:defRPr>
            </a:pPr>
            <a:r>
              <a:rPr sz="2025" b="1" i="0">
                <a:solidFill>
                  <a:srgbClr val="0C1112"/>
                </a:solidFill>
                <a:latin typeface="Arial"/>
                <a:ea typeface="Arial"/>
                <a:cs typeface="Arial"/>
              </a:rPr>
              <a:t>Keep your allowance,</a:t>
            </a:r>
          </a:p>
          <a:p xmlns:a="http://schemas.openxmlformats.org/drawingml/2006/main">
            <a:pPr>
              <a:defRPr sz="2025" b="1" i="0">
                <a:solidFill>
                  <a:srgbClr val="0C1112"/>
                </a:solidFill>
                <a:latin typeface="Arial"/>
                <a:ea typeface="Arial"/>
                <a:cs typeface="Arial"/>
              </a:defRPr>
            </a:pPr>
            <a:r>
              <a:rPr sz="2025" b="1" i="0">
                <a:solidFill>
                  <a:srgbClr val="0C1112"/>
                </a:solidFill>
                <a:latin typeface="Arial"/>
                <a:ea typeface="Arial"/>
                <a:cs typeface="Arial"/>
              </a:rPr>
              <a:t>add a bag or compare</a:t>
            </a:r>
          </a:p>
          <a:p xmlns:a="http://schemas.openxmlformats.org/drawingml/2006/main">
            <a:pPr>
              <a:defRPr sz="2025" b="1" i="0">
                <a:solidFill>
                  <a:srgbClr val="0C1112"/>
                </a:solidFill>
                <a:latin typeface="Arial"/>
                <a:ea typeface="Arial"/>
                <a:cs typeface="Arial"/>
              </a:defRPr>
            </a:pPr>
            <a:r>
              <a:rPr sz="2025" b="1" i="0">
                <a:solidFill>
                  <a:srgbClr val="0C1112"/>
                </a:solidFill>
                <a:latin typeface="Arial"/>
                <a:ea typeface="Arial"/>
                <a:cs typeface="Arial"/>
              </a:rPr>
              <a:t>an eligible bundle.</a:t>
            </a:r>
          </a:p>
        </p:txBody>
      </p:sp>
      <p:pic>
        <p:nvPicPr>
          <p:cNvPr id="13" name="">
            <a:extLst xmlns:a="http://schemas.openxmlformats.org/drawingml/2006/main">
              <a:ext uri="{FF2B5EF4-FFF2-40B4-BE49-F238E27FC236}">
                <a16:creationId xmlns:a16="http://schemas.microsoft.com/office/drawing/2014/main" id="{0E7968A4-9180-4E9C-B5D6-9B4C6C34D6BA}"/>
              </a:ext>
            </a:extLst>
          </p:cNvPr>
          <p:cNvPicPr>
            <a:picLocks xmlns:a="http://schemas.openxmlformats.org/drawingml/2006/main" noChangeAspect="1"/>
          </p:cNvPicPr>
          <p:nvPr/>
        </p:nvPicPr>
        <p:blipFill>
          <a:blip xmlns:r="http://schemas.openxmlformats.org/officeDocument/2006/relationships" xmlns:a="http://schemas.openxmlformats.org/drawingml/2006/main" r:embed="R60930a21485c493d"/>
          <a:srcRect xmlns:a="http://schemas.openxmlformats.org/drawingml/2006/main" l="0" t="0" r="0" b="0"/>
          <a:stretch xmlns:a="http://schemas.openxmlformats.org/drawingml/2006/main"/>
        </p:blipFill>
        <p:spPr>
          <a:xfrm xmlns:a="http://schemas.openxmlformats.org/drawingml/2006/main">
            <a:off x="9296400" y="1438275"/>
            <a:ext cx="2152650" cy="4676775"/>
          </a:xfrm>
          <a:prstGeom xmlns:a="http://schemas.openxmlformats.org/drawingml/2006/main" prst="roundRect">
            <a:avLst>
              <a:gd name="adj" fmla="val 15044"/>
            </a:avLst>
          </a:prstGeom>
        </p:spPr>
      </p:pic>
      <p:sp>
        <p:nvSpPr>
          <p:cNvPr id="14" name="Actual photo test and native baggage UI. In-app ba">
            <a:extLst xmlns:a="http://schemas.openxmlformats.org/drawingml/2006/main">
              <a:ext uri="{FF2B5EF4-FFF2-40B4-BE49-F238E27FC236}">
                <a16:creationId xmlns:a16="http://schemas.microsoft.com/office/drawing/2014/main" id="{AFE5B157-8598-4FEF-B616-8724B0D48D62}"/>
              </a:ext>
            </a:extLst>
          </p:cNvPr>
          <p:cNvSpPr>
            <a:spLocks xmlns:a="http://schemas.openxmlformats.org/drawingml/2006/main" noGrp="1"/>
          </p:cNvSpPr>
          <p:nvPr/>
        </p:nvSpPr>
        <p:spPr>
          <a:xfrm xmlns:a="http://schemas.openxmlformats.org/drawingml/2006/main">
            <a:off x="2028825" y="6229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343D42"/>
                </a:solidFill>
                <a:latin typeface="Arial"/>
                <a:ea typeface="Arial"/>
                <a:cs typeface="Arial"/>
              </a:defRPr>
            </a:defPPr>
          </a:lstStyle>
          <a:p xmlns:a="http://schemas.openxmlformats.org/drawingml/2006/main">
            <a:pPr>
              <a:defRPr sz="1050" b="0" i="0">
                <a:solidFill>
                  <a:srgbClr val="343D42"/>
                </a:solidFill>
                <a:latin typeface="Arial"/>
                <a:ea typeface="Arial"/>
                <a:cs typeface="Arial"/>
              </a:defRPr>
            </a:pPr>
            <a:r>
              <a:rPr sz="1050" b="0" i="0">
                <a:solidFill>
                  <a:srgbClr val="343D42"/>
                </a:solidFill>
                <a:latin typeface="Arial"/>
                <a:ea typeface="Arial"/>
                <a:cs typeface="Arial"/>
              </a:rPr>
              <a:t>Actual photo test and native baggage UI. In-app bag prices use demo inventory. Weight cannot be measured from a photo.</a:t>
            </a:r>
          </a:p>
        </p:txBody>
      </p:sp>
    </p:spTree>
    <p:extLst>
      <p:ext uri="{BB962C8B-B14F-4D97-AF65-F5344CB8AC3E}">
        <p14:creationId xmlns:p14="http://schemas.microsoft.com/office/powerpoint/2010/main" val="189813906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089C0A6-B142-48C5-949A-25178193F041}"/>
              </a:ext>
            </a:extLst>
          </p:cNvPr>
          <p:cNvPicPr>
            <a:picLocks xmlns:a="http://schemas.openxmlformats.org/drawingml/2006/main" noChangeAspect="1"/>
          </p:cNvPicPr>
          <p:nvPr/>
        </p:nvPicPr>
        <p:blipFill>
          <a:blip xmlns:r="http://schemas.openxmlformats.org/officeDocument/2006/relationships" xmlns:a="http://schemas.openxmlformats.org/drawingml/2006/main" r:embed="Rf9bf78840d2b482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ripFit">
            <a:extLst xmlns:a="http://schemas.openxmlformats.org/drawingml/2006/main">
              <a:ext uri="{FF2B5EF4-FFF2-40B4-BE49-F238E27FC236}">
                <a16:creationId xmlns:a16="http://schemas.microsoft.com/office/drawing/2014/main" id="{20CCBFE1-932B-4C26-9A86-F71CB3EB4721}"/>
              </a:ext>
            </a:extLst>
          </p:cNvPr>
          <p:cNvSpPr>
            <a:spLocks xmlns:a="http://schemas.openxmlformats.org/drawingml/2006/main" noGrp="1"/>
          </p:cNvSpPr>
          <p:nvPr/>
        </p:nvSpPr>
        <p:spPr>
          <a:xfrm xmlns:a="http://schemas.openxmlformats.org/drawingml/2006/main">
            <a:off x="381000" y="371475"/>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i="0">
                <a:solidFill>
                  <a:srgbClr val="0C1112"/>
                </a:solidFill>
                <a:latin typeface="Arial"/>
                <a:ea typeface="Arial"/>
                <a:cs typeface="Arial"/>
              </a:defRPr>
            </a:defPPr>
          </a:lstStyle>
          <a:p xmlns:a="http://schemas.openxmlformats.org/drawingml/2006/main">
            <a:pPr>
              <a:defRPr sz="1650" b="1" i="0">
                <a:solidFill>
                  <a:srgbClr val="0C1112"/>
                </a:solidFill>
                <a:latin typeface="Arial"/>
                <a:ea typeface="Arial"/>
                <a:cs typeface="Arial"/>
              </a:defRPr>
            </a:pPr>
            <a:r>
              <a:rPr sz="1650" b="1" i="0">
                <a:solidFill>
                  <a:srgbClr val="0C1112"/>
                </a:solidFill>
                <a:latin typeface="Arial"/>
                <a:ea typeface="Arial"/>
                <a:cs typeface="Arial"/>
              </a:rPr>
              <a:t>TripFit</a:t>
            </a:r>
          </a:p>
        </p:txBody>
      </p:sp>
      <p:sp>
        <p:nvSpPr>
          <p:cNvPr id="3" name="PEGASUS&#10;HACKATHON">
            <a:extLst xmlns:a="http://schemas.openxmlformats.org/drawingml/2006/main">
              <a:ext uri="{FF2B5EF4-FFF2-40B4-BE49-F238E27FC236}">
                <a16:creationId xmlns:a16="http://schemas.microsoft.com/office/drawing/2014/main" id="{4C19EE17-22F3-4453-A91B-D04E34CE8397}"/>
              </a:ext>
            </a:extLst>
          </p:cNvPr>
          <p:cNvSpPr>
            <a:spLocks xmlns:a="http://schemas.openxmlformats.org/drawingml/2006/main" noGrp="1"/>
          </p:cNvSpPr>
          <p:nvPr/>
        </p:nvSpPr>
        <p:spPr>
          <a:xfrm xmlns:a="http://schemas.openxmlformats.org/drawingml/2006/main">
            <a:off x="2028825" y="352425"/>
            <a:ext cx="6191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PEGASUS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HACKATHON</a:t>
            </a:r>
          </a:p>
        </p:txBody>
      </p:sp>
      <p:sp>
        <p:nvSpPr>
          <p:cNvPr id="4" name="03 / Search, compare and continue">
            <a:extLst xmlns:a="http://schemas.openxmlformats.org/drawingml/2006/main">
              <a:ext uri="{FF2B5EF4-FFF2-40B4-BE49-F238E27FC236}">
                <a16:creationId xmlns:a16="http://schemas.microsoft.com/office/drawing/2014/main" id="{0A77D05E-6A09-43AA-A702-EE0368967D89}"/>
              </a:ext>
            </a:extLst>
          </p:cNvPr>
          <p:cNvSpPr>
            <a:spLocks xmlns:a="http://schemas.openxmlformats.org/drawingml/2006/main" noGrp="1"/>
          </p:cNvSpPr>
          <p:nvPr/>
        </p:nvSpPr>
        <p:spPr>
          <a:xfrm xmlns:a="http://schemas.openxmlformats.org/drawingml/2006/main">
            <a:off x="8667750" y="457200"/>
            <a:ext cx="3133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343D42"/>
                </a:solidFill>
                <a:latin typeface="Arial"/>
                <a:ea typeface="Arial"/>
                <a:cs typeface="Arial"/>
              </a:defRPr>
            </a:defPPr>
          </a:lstStyle>
          <a:p xmlns:a="http://schemas.openxmlformats.org/drawingml/2006/main">
            <a:pPr>
              <a:defRPr sz="1350" b="0" i="0">
                <a:solidFill>
                  <a:srgbClr val="343D42"/>
                </a:solidFill>
                <a:latin typeface="Arial"/>
                <a:ea typeface="Arial"/>
                <a:cs typeface="Arial"/>
              </a:defRPr>
            </a:pPr>
            <a:r>
              <a:rPr sz="1350" b="0" i="0">
                <a:solidFill>
                  <a:srgbClr val="343D42"/>
                </a:solidFill>
                <a:latin typeface="Arial"/>
                <a:ea typeface="Arial"/>
                <a:cs typeface="Arial"/>
              </a:rPr>
              <a:t>03 / Search, compare and continue</a:t>
            </a:r>
          </a:p>
        </p:txBody>
      </p:sp>
      <p:sp>
        <p:nvSpPr>
          <p:cNvPr id="5" name="Editorial divider">
            <a:extLst xmlns:a="http://schemas.openxmlformats.org/drawingml/2006/main">
              <a:ext uri="{FF2B5EF4-FFF2-40B4-BE49-F238E27FC236}">
                <a16:creationId xmlns:a16="http://schemas.microsoft.com/office/drawing/2014/main" id="{00E989EE-555C-44A7-9EBB-823A023AF47E}"/>
              </a:ext>
            </a:extLst>
          </p:cNvPr>
          <p:cNvSpPr>
            <a:spLocks xmlns:a="http://schemas.openxmlformats.org/drawingml/2006/main" noGrp="1"/>
          </p:cNvSpPr>
          <p:nvPr/>
        </p:nvSpPr>
        <p:spPr>
          <a:xfrm xmlns:a="http://schemas.openxmlformats.org/drawingml/2006/main">
            <a:off x="371475" y="1257300"/>
            <a:ext cx="11439525" cy="9525"/>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6" name="Editorial divider">
            <a:extLst xmlns:a="http://schemas.openxmlformats.org/drawingml/2006/main">
              <a:ext uri="{FF2B5EF4-FFF2-40B4-BE49-F238E27FC236}">
                <a16:creationId xmlns:a16="http://schemas.microsoft.com/office/drawing/2014/main" id="{E8B475C1-1B6D-4B1C-AECA-43FA29B61FCA}"/>
              </a:ext>
            </a:extLst>
          </p:cNvPr>
          <p:cNvSpPr>
            <a:spLocks xmlns:a="http://schemas.openxmlformats.org/drawingml/2006/main" noGrp="1"/>
          </p:cNvSpPr>
          <p:nvPr/>
        </p:nvSpPr>
        <p:spPr>
          <a:xfrm xmlns:a="http://schemas.openxmlformats.org/drawingml/2006/main">
            <a:off x="1704975" y="361950"/>
            <a:ext cx="9525" cy="6134100"/>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7" name="05">
            <a:extLst xmlns:a="http://schemas.openxmlformats.org/drawingml/2006/main">
              <a:ext uri="{FF2B5EF4-FFF2-40B4-BE49-F238E27FC236}">
                <a16:creationId xmlns:a16="http://schemas.microsoft.com/office/drawing/2014/main" id="{4D4EA203-6E53-4248-9DD4-83551BD32E6B}"/>
              </a:ext>
            </a:extLst>
          </p:cNvPr>
          <p:cNvSpPr>
            <a:spLocks xmlns:a="http://schemas.openxmlformats.org/drawingml/2006/main" noGrp="1"/>
          </p:cNvSpPr>
          <p:nvPr/>
        </p:nvSpPr>
        <p:spPr>
          <a:xfrm xmlns:a="http://schemas.openxmlformats.org/drawingml/2006/main">
            <a:off x="390525" y="15811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i="0">
                <a:solidFill>
                  <a:srgbClr val="0C1112"/>
                </a:solidFill>
                <a:latin typeface="Arial"/>
                <a:ea typeface="Arial"/>
                <a:cs typeface="Arial"/>
              </a:defRPr>
            </a:defPPr>
          </a:lstStyle>
          <a:p xmlns:a="http://schemas.openxmlformats.org/drawingml/2006/main">
            <a:pPr>
              <a:defRPr sz="1725" b="1" i="0">
                <a:solidFill>
                  <a:srgbClr val="0C1112"/>
                </a:solidFill>
                <a:latin typeface="Arial"/>
                <a:ea typeface="Arial"/>
                <a:cs typeface="Arial"/>
              </a:defRPr>
            </a:pPr>
            <a:r>
              <a:rPr sz="1725" b="1" i="0">
                <a:solidFill>
                  <a:srgbClr val="0C1112"/>
                </a:solidFill>
                <a:latin typeface="Arial"/>
                <a:ea typeface="Arial"/>
                <a:cs typeface="Arial"/>
              </a:rPr>
              <a:t>05</a:t>
            </a:r>
          </a:p>
        </p:txBody>
      </p:sp>
      <p:sp>
        <p:nvSpPr>
          <p:cNvPr id="8" name="09 OCT 2026">
            <a:extLst xmlns:a="http://schemas.openxmlformats.org/drawingml/2006/main">
              <a:ext uri="{FF2B5EF4-FFF2-40B4-BE49-F238E27FC236}">
                <a16:creationId xmlns:a16="http://schemas.microsoft.com/office/drawing/2014/main" id="{C6E9ABC8-4501-4F3E-81FA-013D2CAA0A05}"/>
              </a:ext>
            </a:extLst>
          </p:cNvPr>
          <p:cNvSpPr>
            <a:spLocks xmlns:a="http://schemas.openxmlformats.org/drawingml/2006/main" noGrp="1"/>
          </p:cNvSpPr>
          <p:nvPr/>
        </p:nvSpPr>
        <p:spPr>
          <a:xfrm xmlns:a="http://schemas.openxmlformats.org/drawingml/2006/main">
            <a:off x="381000" y="614362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i="0">
                <a:solidFill>
                  <a:srgbClr val="343D42"/>
                </a:solidFill>
                <a:latin typeface="Arial"/>
                <a:ea typeface="Arial"/>
                <a:cs typeface="Arial"/>
              </a:defRPr>
            </a:defPPr>
          </a:lstStyle>
          <a:p xmlns:a="http://schemas.openxmlformats.org/drawingml/2006/main">
            <a:pPr>
              <a:defRPr sz="975" b="0" i="0">
                <a:solidFill>
                  <a:srgbClr val="343D42"/>
                </a:solidFill>
                <a:latin typeface="Arial"/>
                <a:ea typeface="Arial"/>
                <a:cs typeface="Arial"/>
              </a:defRPr>
            </a:pPr>
            <a:r>
              <a:rPr sz="975" b="0" i="0">
                <a:solidFill>
                  <a:srgbClr val="343D42"/>
                </a:solidFill>
                <a:latin typeface="Arial"/>
                <a:ea typeface="Arial"/>
                <a:cs typeface="Arial"/>
              </a:rPr>
              <a:t>09 OCT 2026</a:t>
            </a:r>
          </a:p>
        </p:txBody>
      </p:sp>
      <p:sp>
        <p:nvSpPr>
          <p:cNvPr id="9" name="Real flights.&#10;Clear choices.">
            <a:extLst xmlns:a="http://schemas.openxmlformats.org/drawingml/2006/main">
              <a:ext uri="{FF2B5EF4-FFF2-40B4-BE49-F238E27FC236}">
                <a16:creationId xmlns:a16="http://schemas.microsoft.com/office/drawing/2014/main" id="{BDE25760-3515-4EC8-9C8E-8AEFD68126A7}"/>
              </a:ext>
            </a:extLst>
          </p:cNvPr>
          <p:cNvSpPr>
            <a:spLocks xmlns:a="http://schemas.openxmlformats.org/drawingml/2006/main" noGrp="1"/>
          </p:cNvSpPr>
          <p:nvPr/>
        </p:nvSpPr>
        <p:spPr>
          <a:xfrm xmlns:a="http://schemas.openxmlformats.org/drawingml/2006/main">
            <a:off x="2019300" y="1571625"/>
            <a:ext cx="6667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i="0">
                <a:solidFill>
                  <a:srgbClr val="0C1112"/>
                </a:solidFill>
                <a:latin typeface="Arial"/>
                <a:ea typeface="Arial"/>
                <a:cs typeface="Arial"/>
              </a:defRPr>
            </a:defPPr>
          </a:lstStyle>
          <a:p xmlns:a="http://schemas.openxmlformats.org/drawingml/2006/main">
            <a:pPr>
              <a:defRPr sz="4350" b="1" i="0">
                <a:solidFill>
                  <a:srgbClr val="0C1112"/>
                </a:solidFill>
                <a:latin typeface="Arial"/>
                <a:ea typeface="Arial"/>
                <a:cs typeface="Arial"/>
              </a:defRPr>
            </a:pPr>
            <a:r>
              <a:rPr sz="4350" b="1" i="0">
                <a:solidFill>
                  <a:srgbClr val="0C1112"/>
                </a:solidFill>
                <a:latin typeface="Arial"/>
                <a:ea typeface="Arial"/>
                <a:cs typeface="Arial"/>
              </a:rPr>
              <a:t>Real flights.</a:t>
            </a:r>
          </a:p>
          <a:p xmlns:a="http://schemas.openxmlformats.org/drawingml/2006/main">
            <a:pPr>
              <a:defRPr sz="4350" b="1" i="0">
                <a:solidFill>
                  <a:srgbClr val="0C1112"/>
                </a:solidFill>
                <a:latin typeface="Arial"/>
                <a:ea typeface="Arial"/>
                <a:cs typeface="Arial"/>
              </a:defRPr>
            </a:pPr>
            <a:r>
              <a:rPr sz="4350" b="1" i="0">
                <a:solidFill>
                  <a:srgbClr val="0C1112"/>
                </a:solidFill>
                <a:latin typeface="Arial"/>
                <a:ea typeface="Arial"/>
                <a:cs typeface="Arial"/>
              </a:rPr>
              <a:t>Clear choices.</a:t>
            </a:r>
          </a:p>
        </p:txBody>
      </p:sp>
      <p:sp>
        <p:nvSpPr>
          <p:cNvPr id="10" name="Live Pegasus availability and fares.&#10;Compare candi">
            <a:extLst xmlns:a="http://schemas.openxmlformats.org/drawingml/2006/main">
              <a:ext uri="{FF2B5EF4-FFF2-40B4-BE49-F238E27FC236}">
                <a16:creationId xmlns:a16="http://schemas.microsoft.com/office/drawing/2014/main" id="{9066E0BD-84C8-49A6-A06D-D736D25EEF39}"/>
              </a:ext>
            </a:extLst>
          </p:cNvPr>
          <p:cNvSpPr>
            <a:spLocks xmlns:a="http://schemas.openxmlformats.org/drawingml/2006/main" noGrp="1"/>
          </p:cNvSpPr>
          <p:nvPr/>
        </p:nvSpPr>
        <p:spPr>
          <a:xfrm xmlns:a="http://schemas.openxmlformats.org/drawingml/2006/main">
            <a:off x="2038350" y="3314700"/>
            <a:ext cx="68484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0C1112"/>
                </a:solidFill>
                <a:latin typeface="Arial"/>
                <a:ea typeface="Arial"/>
                <a:cs typeface="Arial"/>
              </a:defRPr>
            </a:defPPr>
          </a:lstStyle>
          <a:p xmlns:a="http://schemas.openxmlformats.org/drawingml/2006/main">
            <a:pPr>
              <a:defRPr sz="2250" b="0" i="0">
                <a:solidFill>
                  <a:srgbClr val="0C1112"/>
                </a:solidFill>
                <a:latin typeface="Arial"/>
                <a:ea typeface="Arial"/>
                <a:cs typeface="Arial"/>
              </a:defRPr>
            </a:pPr>
            <a:r>
              <a:rPr sz="2250" b="0" i="0">
                <a:solidFill>
                  <a:srgbClr val="0C1112"/>
                </a:solidFill>
                <a:latin typeface="Arial"/>
                <a:ea typeface="Arial"/>
                <a:cs typeface="Arial"/>
              </a:rPr>
              <a:t>Live Pegasus availability and fares.</a:t>
            </a:r>
          </a:p>
          <a:p xmlns:a="http://schemas.openxmlformats.org/drawingml/2006/main">
            <a:pPr>
              <a:defRPr sz="2250" b="0" i="0">
                <a:solidFill>
                  <a:srgbClr val="0C1112"/>
                </a:solidFill>
                <a:latin typeface="Arial"/>
                <a:ea typeface="Arial"/>
                <a:cs typeface="Arial"/>
              </a:defRPr>
            </a:pPr>
            <a:r>
              <a:rPr sz="2250" b="0" i="0">
                <a:solidFill>
                  <a:srgbClr val="0C1112"/>
                </a:solidFill>
                <a:latin typeface="Arial"/>
                <a:ea typeface="Arial"/>
                <a:cs typeface="Arial"/>
              </a:rPr>
              <a:t>Compare candidates against the trip.</a:t>
            </a:r>
          </a:p>
          <a:p xmlns:a="http://schemas.openxmlformats.org/drawingml/2006/main">
            <a:pPr>
              <a:defRPr sz="2250" b="0" i="0">
                <a:solidFill>
                  <a:srgbClr val="0C1112"/>
                </a:solidFill>
                <a:latin typeface="Arial"/>
                <a:ea typeface="Arial"/>
                <a:cs typeface="Arial"/>
              </a:defRPr>
            </a:pPr>
            <a:r>
              <a:rPr sz="2250" b="0" i="0">
                <a:solidFill>
                  <a:srgbClr val="0C1112"/>
                </a:solidFill>
                <a:latin typeface="Arial"/>
                <a:ea typeface="Arial"/>
                <a:cs typeface="Arial"/>
              </a:rPr>
              <a:t>Review explicit nearby alternatives.</a:t>
            </a:r>
          </a:p>
        </p:txBody>
      </p:sp>
      <p:sp>
        <p:nvSpPr>
          <p:cNvPr id="11" name="The native demo also covers bags, seats,&#10;meals, bu">
            <a:extLst xmlns:a="http://schemas.openxmlformats.org/drawingml/2006/main">
              <a:ext uri="{FF2B5EF4-FFF2-40B4-BE49-F238E27FC236}">
                <a16:creationId xmlns:a16="http://schemas.microsoft.com/office/drawing/2014/main" id="{7876D2D0-5CA9-428C-8D0F-4C6BCB1A7F90}"/>
              </a:ext>
            </a:extLst>
          </p:cNvPr>
          <p:cNvSpPr>
            <a:spLocks xmlns:a="http://schemas.openxmlformats.org/drawingml/2006/main" noGrp="1"/>
          </p:cNvSpPr>
          <p:nvPr/>
        </p:nvSpPr>
        <p:spPr>
          <a:xfrm xmlns:a="http://schemas.openxmlformats.org/drawingml/2006/main">
            <a:off x="2038350" y="5076825"/>
            <a:ext cx="68484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0C1112"/>
                </a:solidFill>
                <a:latin typeface="Arial"/>
                <a:ea typeface="Arial"/>
                <a:cs typeface="Arial"/>
              </a:defRPr>
            </a:defPPr>
          </a:lstStyle>
          <a:p xmlns:a="http://schemas.openxmlformats.org/drawingml/2006/main">
            <a:pPr>
              <a:defRPr sz="2025" b="0" i="0">
                <a:solidFill>
                  <a:srgbClr val="0C1112"/>
                </a:solidFill>
                <a:latin typeface="Arial"/>
                <a:ea typeface="Arial"/>
                <a:cs typeface="Arial"/>
              </a:defRPr>
            </a:pPr>
            <a:r>
              <a:rPr sz="2025" b="0" i="0">
                <a:solidFill>
                  <a:srgbClr val="0C1112"/>
                </a:solidFill>
                <a:latin typeface="Arial"/>
                <a:ea typeface="Arial"/>
                <a:cs typeface="Arial"/>
              </a:rPr>
              <a:t>The native demo also covers bags, seats,</a:t>
            </a:r>
          </a:p>
          <a:p xmlns:a="http://schemas.openxmlformats.org/drawingml/2006/main">
            <a:pPr>
              <a:defRPr sz="2025" b="0" i="0">
                <a:solidFill>
                  <a:srgbClr val="0C1112"/>
                </a:solidFill>
                <a:latin typeface="Arial"/>
                <a:ea typeface="Arial"/>
                <a:cs typeface="Arial"/>
              </a:defRPr>
            </a:pPr>
            <a:r>
              <a:rPr sz="2025" b="0" i="0">
                <a:solidFill>
                  <a:srgbClr val="0C1112"/>
                </a:solidFill>
                <a:latin typeface="Arial"/>
                <a:ea typeface="Arial"/>
                <a:cs typeface="Arial"/>
              </a:rPr>
              <a:t>meals, bundles, review and saved trips.</a:t>
            </a:r>
          </a:p>
        </p:txBody>
      </p:sp>
      <p:pic>
        <p:nvPicPr>
          <p:cNvPr id="12" name="">
            <a:extLst xmlns:a="http://schemas.openxmlformats.org/drawingml/2006/main">
              <a:ext uri="{FF2B5EF4-FFF2-40B4-BE49-F238E27FC236}">
                <a16:creationId xmlns:a16="http://schemas.microsoft.com/office/drawing/2014/main" id="{AF875474-8F8F-45F3-828A-66BD682C4922}"/>
              </a:ext>
            </a:extLst>
          </p:cNvPr>
          <p:cNvPicPr>
            <a:picLocks xmlns:a="http://schemas.openxmlformats.org/drawingml/2006/main" noChangeAspect="1"/>
          </p:cNvPicPr>
          <p:nvPr/>
        </p:nvPicPr>
        <p:blipFill>
          <a:blip xmlns:r="http://schemas.openxmlformats.org/officeDocument/2006/relationships" xmlns:a="http://schemas.openxmlformats.org/drawingml/2006/main" r:embed="R34e2089c7f974ae8"/>
          <a:srcRect xmlns:a="http://schemas.openxmlformats.org/drawingml/2006/main" l="6092" t="8539" r="5862" b="1933"/>
          <a:stretch xmlns:a="http://schemas.openxmlformats.org/drawingml/2006/main"/>
        </p:blipFill>
        <p:spPr>
          <a:xfrm xmlns:a="http://schemas.openxmlformats.org/drawingml/2006/main">
            <a:off x="9296400" y="1438275"/>
            <a:ext cx="2152650" cy="4676775"/>
          </a:xfrm>
          <a:prstGeom xmlns:a="http://schemas.openxmlformats.org/drawingml/2006/main" prst="roundRect">
            <a:avLst>
              <a:gd name="adj" fmla="val 15044"/>
            </a:avLst>
          </a:prstGeom>
        </p:spPr>
      </p:pic>
      <p:sp>
        <p:nvSpPr>
          <p:cNvPr id="13" name="Live selection continues on Pegasus to book and pa">
            <a:extLst xmlns:a="http://schemas.openxmlformats.org/drawingml/2006/main">
              <a:ext uri="{FF2B5EF4-FFF2-40B4-BE49-F238E27FC236}">
                <a16:creationId xmlns:a16="http://schemas.microsoft.com/office/drawing/2014/main" id="{57194D97-39B0-4298-829E-B4DC90A0B1C6}"/>
              </a:ext>
            </a:extLst>
          </p:cNvPr>
          <p:cNvSpPr>
            <a:spLocks xmlns:a="http://schemas.openxmlformats.org/drawingml/2006/main" noGrp="1"/>
          </p:cNvSpPr>
          <p:nvPr/>
        </p:nvSpPr>
        <p:spPr>
          <a:xfrm xmlns:a="http://schemas.openxmlformats.org/drawingml/2006/main">
            <a:off x="2028825" y="6229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343D42"/>
                </a:solidFill>
                <a:latin typeface="Arial"/>
                <a:ea typeface="Arial"/>
                <a:cs typeface="Arial"/>
              </a:defRPr>
            </a:defPPr>
          </a:lstStyle>
          <a:p xmlns:a="http://schemas.openxmlformats.org/drawingml/2006/main">
            <a:pPr>
              <a:defRPr sz="1050" b="0" i="0">
                <a:solidFill>
                  <a:srgbClr val="343D42"/>
                </a:solidFill>
                <a:latin typeface="Arial"/>
                <a:ea typeface="Arial"/>
                <a:cs typeface="Arial"/>
              </a:defRPr>
            </a:pPr>
            <a:r>
              <a:rPr sz="1050" b="0" i="0">
                <a:solidFill>
                  <a:srgbClr val="343D42"/>
                </a:solidFill>
                <a:latin typeface="Arial"/>
                <a:ea typeface="Arial"/>
                <a:cs typeface="Arial"/>
              </a:rPr>
              <a:t>Live selection continues on Pegasus to book and pay. In-app checkout is demo only: no charge and no ticket issued.</a:t>
            </a:r>
          </a:p>
        </p:txBody>
      </p:sp>
    </p:spTree>
    <p:extLst>
      <p:ext uri="{BB962C8B-B14F-4D97-AF65-F5344CB8AC3E}">
        <p14:creationId xmlns:p14="http://schemas.microsoft.com/office/powerpoint/2010/main" val="103531754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A6EB4B3-86AB-4398-BA19-5B7543BD8D57}"/>
              </a:ext>
            </a:extLst>
          </p:cNvPr>
          <p:cNvPicPr>
            <a:picLocks xmlns:a="http://schemas.openxmlformats.org/drawingml/2006/main" noChangeAspect="1"/>
          </p:cNvPicPr>
          <p:nvPr/>
        </p:nvPicPr>
        <p:blipFill>
          <a:blip xmlns:r="http://schemas.openxmlformats.org/officeDocument/2006/relationships" xmlns:a="http://schemas.openxmlformats.org/drawingml/2006/main" r:embed="Ra3d76cd03284408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ripFit">
            <a:extLst xmlns:a="http://schemas.openxmlformats.org/drawingml/2006/main">
              <a:ext uri="{FF2B5EF4-FFF2-40B4-BE49-F238E27FC236}">
                <a16:creationId xmlns:a16="http://schemas.microsoft.com/office/drawing/2014/main" id="{7B9B9829-9646-4F71-965C-5496CE85295F}"/>
              </a:ext>
            </a:extLst>
          </p:cNvPr>
          <p:cNvSpPr>
            <a:spLocks xmlns:a="http://schemas.openxmlformats.org/drawingml/2006/main" noGrp="1"/>
          </p:cNvSpPr>
          <p:nvPr/>
        </p:nvSpPr>
        <p:spPr>
          <a:xfrm xmlns:a="http://schemas.openxmlformats.org/drawingml/2006/main">
            <a:off x="381000" y="371475"/>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i="0">
                <a:solidFill>
                  <a:srgbClr val="0C1112"/>
                </a:solidFill>
                <a:latin typeface="Arial"/>
                <a:ea typeface="Arial"/>
                <a:cs typeface="Arial"/>
              </a:defRPr>
            </a:defPPr>
          </a:lstStyle>
          <a:p xmlns:a="http://schemas.openxmlformats.org/drawingml/2006/main">
            <a:pPr>
              <a:defRPr sz="1650" b="1" i="0">
                <a:solidFill>
                  <a:srgbClr val="0C1112"/>
                </a:solidFill>
                <a:latin typeface="Arial"/>
                <a:ea typeface="Arial"/>
                <a:cs typeface="Arial"/>
              </a:defRPr>
            </a:pPr>
            <a:r>
              <a:rPr sz="1650" b="1" i="0">
                <a:solidFill>
                  <a:srgbClr val="0C1112"/>
                </a:solidFill>
                <a:latin typeface="Arial"/>
                <a:ea typeface="Arial"/>
                <a:cs typeface="Arial"/>
              </a:rPr>
              <a:t>TripFit</a:t>
            </a:r>
          </a:p>
        </p:txBody>
      </p:sp>
      <p:sp>
        <p:nvSpPr>
          <p:cNvPr id="3" name="PEGASUS&#10;HACKATHON">
            <a:extLst xmlns:a="http://schemas.openxmlformats.org/drawingml/2006/main">
              <a:ext uri="{FF2B5EF4-FFF2-40B4-BE49-F238E27FC236}">
                <a16:creationId xmlns:a16="http://schemas.microsoft.com/office/drawing/2014/main" id="{ADABCC28-2F8B-419B-AD9D-BE9CB237C855}"/>
              </a:ext>
            </a:extLst>
          </p:cNvPr>
          <p:cNvSpPr>
            <a:spLocks xmlns:a="http://schemas.openxmlformats.org/drawingml/2006/main" noGrp="1"/>
          </p:cNvSpPr>
          <p:nvPr/>
        </p:nvSpPr>
        <p:spPr>
          <a:xfrm xmlns:a="http://schemas.openxmlformats.org/drawingml/2006/main">
            <a:off x="2028825" y="352425"/>
            <a:ext cx="6191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PEGASUS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HACKATHON</a:t>
            </a:r>
          </a:p>
        </p:txBody>
      </p:sp>
      <p:sp>
        <p:nvSpPr>
          <p:cNvPr id="4" name="04 / Customer learning">
            <a:extLst xmlns:a="http://schemas.openxmlformats.org/drawingml/2006/main">
              <a:ext uri="{FF2B5EF4-FFF2-40B4-BE49-F238E27FC236}">
                <a16:creationId xmlns:a16="http://schemas.microsoft.com/office/drawing/2014/main" id="{B85CFFE6-4011-4EA0-B17D-26158CD48E5A}"/>
              </a:ext>
            </a:extLst>
          </p:cNvPr>
          <p:cNvSpPr>
            <a:spLocks xmlns:a="http://schemas.openxmlformats.org/drawingml/2006/main" noGrp="1"/>
          </p:cNvSpPr>
          <p:nvPr/>
        </p:nvSpPr>
        <p:spPr>
          <a:xfrm xmlns:a="http://schemas.openxmlformats.org/drawingml/2006/main">
            <a:off x="8667750" y="457200"/>
            <a:ext cx="3133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343D42"/>
                </a:solidFill>
                <a:latin typeface="Arial"/>
                <a:ea typeface="Arial"/>
                <a:cs typeface="Arial"/>
              </a:defRPr>
            </a:defPPr>
          </a:lstStyle>
          <a:p xmlns:a="http://schemas.openxmlformats.org/drawingml/2006/main">
            <a:pPr>
              <a:defRPr sz="1350" b="0" i="0">
                <a:solidFill>
                  <a:srgbClr val="343D42"/>
                </a:solidFill>
                <a:latin typeface="Arial"/>
                <a:ea typeface="Arial"/>
                <a:cs typeface="Arial"/>
              </a:defRPr>
            </a:pPr>
            <a:r>
              <a:rPr sz="1350" b="0" i="0">
                <a:solidFill>
                  <a:srgbClr val="343D42"/>
                </a:solidFill>
                <a:latin typeface="Arial"/>
                <a:ea typeface="Arial"/>
                <a:cs typeface="Arial"/>
              </a:rPr>
              <a:t>04 / Customer learning</a:t>
            </a:r>
          </a:p>
        </p:txBody>
      </p:sp>
      <p:sp>
        <p:nvSpPr>
          <p:cNvPr id="5" name="Editorial divider">
            <a:extLst xmlns:a="http://schemas.openxmlformats.org/drawingml/2006/main">
              <a:ext uri="{FF2B5EF4-FFF2-40B4-BE49-F238E27FC236}">
                <a16:creationId xmlns:a16="http://schemas.microsoft.com/office/drawing/2014/main" id="{03893C88-6B11-43FA-9265-711D33CA6A9E}"/>
              </a:ext>
            </a:extLst>
          </p:cNvPr>
          <p:cNvSpPr>
            <a:spLocks xmlns:a="http://schemas.openxmlformats.org/drawingml/2006/main" noGrp="1"/>
          </p:cNvSpPr>
          <p:nvPr/>
        </p:nvSpPr>
        <p:spPr>
          <a:xfrm xmlns:a="http://schemas.openxmlformats.org/drawingml/2006/main">
            <a:off x="371475" y="1257300"/>
            <a:ext cx="11439525" cy="9525"/>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6" name="Editorial divider">
            <a:extLst xmlns:a="http://schemas.openxmlformats.org/drawingml/2006/main">
              <a:ext uri="{FF2B5EF4-FFF2-40B4-BE49-F238E27FC236}">
                <a16:creationId xmlns:a16="http://schemas.microsoft.com/office/drawing/2014/main" id="{EB7632BE-D046-4212-A1EA-7DB01A7DF0D0}"/>
              </a:ext>
            </a:extLst>
          </p:cNvPr>
          <p:cNvSpPr>
            <a:spLocks xmlns:a="http://schemas.openxmlformats.org/drawingml/2006/main" noGrp="1"/>
          </p:cNvSpPr>
          <p:nvPr/>
        </p:nvSpPr>
        <p:spPr>
          <a:xfrm xmlns:a="http://schemas.openxmlformats.org/drawingml/2006/main">
            <a:off x="1704975" y="361950"/>
            <a:ext cx="9525" cy="6134100"/>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7" name="06">
            <a:extLst xmlns:a="http://schemas.openxmlformats.org/drawingml/2006/main">
              <a:ext uri="{FF2B5EF4-FFF2-40B4-BE49-F238E27FC236}">
                <a16:creationId xmlns:a16="http://schemas.microsoft.com/office/drawing/2014/main" id="{0A384696-9C19-4966-8B9B-3FB50A94EBC2}"/>
              </a:ext>
            </a:extLst>
          </p:cNvPr>
          <p:cNvSpPr>
            <a:spLocks xmlns:a="http://schemas.openxmlformats.org/drawingml/2006/main" noGrp="1"/>
          </p:cNvSpPr>
          <p:nvPr/>
        </p:nvSpPr>
        <p:spPr>
          <a:xfrm xmlns:a="http://schemas.openxmlformats.org/drawingml/2006/main">
            <a:off x="390525" y="15811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i="0">
                <a:solidFill>
                  <a:srgbClr val="0C1112"/>
                </a:solidFill>
                <a:latin typeface="Arial"/>
                <a:ea typeface="Arial"/>
                <a:cs typeface="Arial"/>
              </a:defRPr>
            </a:defPPr>
          </a:lstStyle>
          <a:p xmlns:a="http://schemas.openxmlformats.org/drawingml/2006/main">
            <a:pPr>
              <a:defRPr sz="1725" b="1" i="0">
                <a:solidFill>
                  <a:srgbClr val="0C1112"/>
                </a:solidFill>
                <a:latin typeface="Arial"/>
                <a:ea typeface="Arial"/>
                <a:cs typeface="Arial"/>
              </a:defRPr>
            </a:pPr>
            <a:r>
              <a:rPr sz="1725" b="1" i="0">
                <a:solidFill>
                  <a:srgbClr val="0C1112"/>
                </a:solidFill>
                <a:latin typeface="Arial"/>
                <a:ea typeface="Arial"/>
                <a:cs typeface="Arial"/>
              </a:rPr>
              <a:t>06</a:t>
            </a:r>
          </a:p>
        </p:txBody>
      </p:sp>
      <p:sp>
        <p:nvSpPr>
          <p:cNvPr id="8" name="09 OCT 2026">
            <a:extLst xmlns:a="http://schemas.openxmlformats.org/drawingml/2006/main">
              <a:ext uri="{FF2B5EF4-FFF2-40B4-BE49-F238E27FC236}">
                <a16:creationId xmlns:a16="http://schemas.microsoft.com/office/drawing/2014/main" id="{F110D8E8-8029-4CE3-9758-7A709319B395}"/>
              </a:ext>
            </a:extLst>
          </p:cNvPr>
          <p:cNvSpPr>
            <a:spLocks xmlns:a="http://schemas.openxmlformats.org/drawingml/2006/main" noGrp="1"/>
          </p:cNvSpPr>
          <p:nvPr/>
        </p:nvSpPr>
        <p:spPr>
          <a:xfrm xmlns:a="http://schemas.openxmlformats.org/drawingml/2006/main">
            <a:off x="381000" y="614362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i="0">
                <a:solidFill>
                  <a:srgbClr val="343D42"/>
                </a:solidFill>
                <a:latin typeface="Arial"/>
                <a:ea typeface="Arial"/>
                <a:cs typeface="Arial"/>
              </a:defRPr>
            </a:defPPr>
          </a:lstStyle>
          <a:p xmlns:a="http://schemas.openxmlformats.org/drawingml/2006/main">
            <a:pPr>
              <a:defRPr sz="975" b="0" i="0">
                <a:solidFill>
                  <a:srgbClr val="343D42"/>
                </a:solidFill>
                <a:latin typeface="Arial"/>
                <a:ea typeface="Arial"/>
                <a:cs typeface="Arial"/>
              </a:defRPr>
            </a:pPr>
            <a:r>
              <a:rPr sz="975" b="0" i="0">
                <a:solidFill>
                  <a:srgbClr val="343D42"/>
                </a:solidFill>
                <a:latin typeface="Arial"/>
                <a:ea typeface="Arial"/>
                <a:cs typeface="Arial"/>
              </a:rPr>
              <a:t>09 OCT 2026</a:t>
            </a:r>
          </a:p>
        </p:txBody>
      </p:sp>
      <p:sp>
        <p:nvSpPr>
          <p:cNvPr id="9" name="What we know&#10;about you">
            <a:extLst xmlns:a="http://schemas.openxmlformats.org/drawingml/2006/main">
              <a:ext uri="{FF2B5EF4-FFF2-40B4-BE49-F238E27FC236}">
                <a16:creationId xmlns:a16="http://schemas.microsoft.com/office/drawing/2014/main" id="{D4BE4213-1AF5-4AAA-AF50-6F0E7CFB17E9}"/>
              </a:ext>
            </a:extLst>
          </p:cNvPr>
          <p:cNvSpPr>
            <a:spLocks xmlns:a="http://schemas.openxmlformats.org/drawingml/2006/main" noGrp="1"/>
          </p:cNvSpPr>
          <p:nvPr/>
        </p:nvSpPr>
        <p:spPr>
          <a:xfrm xmlns:a="http://schemas.openxmlformats.org/drawingml/2006/main">
            <a:off x="2019300" y="1571625"/>
            <a:ext cx="6667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75" b="1" i="0">
                <a:solidFill>
                  <a:srgbClr val="0C1112"/>
                </a:solidFill>
                <a:latin typeface="Arial"/>
                <a:ea typeface="Arial"/>
                <a:cs typeface="Arial"/>
              </a:defRPr>
            </a:defPPr>
          </a:lstStyle>
          <a:p xmlns:a="http://schemas.openxmlformats.org/drawingml/2006/main">
            <a:pPr>
              <a:defRPr sz="4575" b="1" i="0">
                <a:solidFill>
                  <a:srgbClr val="0C1112"/>
                </a:solidFill>
                <a:latin typeface="Arial"/>
                <a:ea typeface="Arial"/>
                <a:cs typeface="Arial"/>
              </a:defRPr>
            </a:pPr>
            <a:r>
              <a:rPr sz="4575" b="1" i="0">
                <a:solidFill>
                  <a:srgbClr val="0C1112"/>
                </a:solidFill>
                <a:latin typeface="Arial"/>
                <a:ea typeface="Arial"/>
                <a:cs typeface="Arial"/>
              </a:rPr>
              <a:t>What we know</a:t>
            </a:r>
          </a:p>
          <a:p xmlns:a="http://schemas.openxmlformats.org/drawingml/2006/main">
            <a:pPr>
              <a:defRPr sz="4575" b="1" i="0">
                <a:solidFill>
                  <a:srgbClr val="0C1112"/>
                </a:solidFill>
                <a:latin typeface="Arial"/>
                <a:ea typeface="Arial"/>
                <a:cs typeface="Arial"/>
              </a:defRPr>
            </a:pPr>
            <a:r>
              <a:rPr sz="4575" b="1" i="0">
                <a:solidFill>
                  <a:srgbClr val="0C1112"/>
                </a:solidFill>
                <a:latin typeface="Arial"/>
                <a:ea typeface="Arial"/>
                <a:cs typeface="Arial"/>
              </a:rPr>
              <a:t>about you</a:t>
            </a:r>
          </a:p>
        </p:txBody>
      </p:sp>
      <p:sp>
        <p:nvSpPr>
          <p:cNvPr id="10" name="Aisle seat. Cabin bag. Direct flights.">
            <a:extLst xmlns:a="http://schemas.openxmlformats.org/drawingml/2006/main">
              <a:ext uri="{FF2B5EF4-FFF2-40B4-BE49-F238E27FC236}">
                <a16:creationId xmlns:a16="http://schemas.microsoft.com/office/drawing/2014/main" id="{83553BDB-103C-4724-8B85-192807C243FF}"/>
              </a:ext>
            </a:extLst>
          </p:cNvPr>
          <p:cNvSpPr>
            <a:spLocks xmlns:a="http://schemas.openxmlformats.org/drawingml/2006/main" noGrp="1"/>
          </p:cNvSpPr>
          <p:nvPr/>
        </p:nvSpPr>
        <p:spPr>
          <a:xfrm xmlns:a="http://schemas.openxmlformats.org/drawingml/2006/main">
            <a:off x="2038350" y="3400425"/>
            <a:ext cx="67722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i="0">
                <a:solidFill>
                  <a:srgbClr val="0C1112"/>
                </a:solidFill>
                <a:latin typeface="Arial"/>
                <a:ea typeface="Arial"/>
                <a:cs typeface="Arial"/>
              </a:defRPr>
            </a:defPPr>
          </a:lstStyle>
          <a:p xmlns:a="http://schemas.openxmlformats.org/drawingml/2006/main">
            <a:pPr>
              <a:defRPr sz="2550" b="1" i="0">
                <a:solidFill>
                  <a:srgbClr val="0C1112"/>
                </a:solidFill>
                <a:latin typeface="Arial"/>
                <a:ea typeface="Arial"/>
                <a:cs typeface="Arial"/>
              </a:defRPr>
            </a:pPr>
            <a:r>
              <a:rPr sz="2550" b="1" i="0">
                <a:solidFill>
                  <a:srgbClr val="0C1112"/>
                </a:solidFill>
                <a:latin typeface="Arial"/>
                <a:ea typeface="Arial"/>
                <a:cs typeface="Arial"/>
              </a:rPr>
              <a:t>Aisle seat. Cabin bag. Direct flights.</a:t>
            </a:r>
          </a:p>
        </p:txBody>
      </p:sp>
      <p:sp>
        <p:nvSpPr>
          <p:cNvPr id="11" name="Learn from confirmed trips and requests.&#10;Show wher">
            <a:extLst xmlns:a="http://schemas.openxmlformats.org/drawingml/2006/main">
              <a:ext uri="{FF2B5EF4-FFF2-40B4-BE49-F238E27FC236}">
                <a16:creationId xmlns:a16="http://schemas.microsoft.com/office/drawing/2014/main" id="{03059C34-70BD-4849-AFC9-078022424D3A}"/>
              </a:ext>
            </a:extLst>
          </p:cNvPr>
          <p:cNvSpPr>
            <a:spLocks xmlns:a="http://schemas.openxmlformats.org/drawingml/2006/main" noGrp="1"/>
          </p:cNvSpPr>
          <p:nvPr/>
        </p:nvSpPr>
        <p:spPr>
          <a:xfrm xmlns:a="http://schemas.openxmlformats.org/drawingml/2006/main">
            <a:off x="2038350" y="4248150"/>
            <a:ext cx="6953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i="0">
                <a:solidFill>
                  <a:srgbClr val="0C1112"/>
                </a:solidFill>
                <a:latin typeface="Arial"/>
                <a:ea typeface="Arial"/>
                <a:cs typeface="Arial"/>
              </a:defRPr>
            </a:defPPr>
          </a:lstStyle>
          <a:p xmlns:a="http://schemas.openxmlformats.org/drawingml/2006/main">
            <a:pPr>
              <a:defRPr sz="2100" b="0" i="0">
                <a:solidFill>
                  <a:srgbClr val="0C1112"/>
                </a:solidFill>
                <a:latin typeface="Arial"/>
                <a:ea typeface="Arial"/>
                <a:cs typeface="Arial"/>
              </a:defRPr>
            </a:pPr>
            <a:r>
              <a:rPr sz="2100" b="0" i="0">
                <a:solidFill>
                  <a:srgbClr val="0C1112"/>
                </a:solidFill>
                <a:latin typeface="Arial"/>
                <a:ea typeface="Arial"/>
                <a:cs typeface="Arial"/>
              </a:rPr>
              <a:t>Learn from confirmed trips and requests.</a:t>
            </a:r>
          </a:p>
          <a:p xmlns:a="http://schemas.openxmlformats.org/drawingml/2006/main">
            <a:pPr>
              <a:defRPr sz="2100" b="0" i="0">
                <a:solidFill>
                  <a:srgbClr val="0C1112"/>
                </a:solidFill>
                <a:latin typeface="Arial"/>
                <a:ea typeface="Arial"/>
                <a:cs typeface="Arial"/>
              </a:defRPr>
            </a:pPr>
            <a:r>
              <a:rPr sz="2100" b="0" i="0">
                <a:solidFill>
                  <a:srgbClr val="0C1112"/>
                </a:solidFill>
                <a:latin typeface="Arial"/>
                <a:ea typeface="Arial"/>
                <a:cs typeface="Arial"/>
              </a:rPr>
              <a:t>Show where each preference came from.</a:t>
            </a:r>
          </a:p>
          <a:p xmlns:a="http://schemas.openxmlformats.org/drawingml/2006/main">
            <a:pPr>
              <a:defRPr sz="2100" b="0" i="0">
                <a:solidFill>
                  <a:srgbClr val="0C1112"/>
                </a:solidFill>
                <a:latin typeface="Arial"/>
                <a:ea typeface="Arial"/>
                <a:cs typeface="Arial"/>
              </a:defRPr>
            </a:pPr>
            <a:r>
              <a:rPr sz="2100" b="0" i="0">
                <a:solidFill>
                  <a:srgbClr val="0C1112"/>
                </a:solidFill>
                <a:latin typeface="Arial"/>
                <a:ea typeface="Arial"/>
                <a:cs typeface="Arial"/>
              </a:rPr>
              <a:t>Let the traveller correct, lock or forget it.</a:t>
            </a:r>
          </a:p>
        </p:txBody>
      </p:sp>
      <p:sp>
        <p:nvSpPr>
          <p:cNvPr id="12" name="Reuse a preference only with the customer’s contro">
            <a:extLst xmlns:a="http://schemas.openxmlformats.org/drawingml/2006/main">
              <a:ext uri="{FF2B5EF4-FFF2-40B4-BE49-F238E27FC236}">
                <a16:creationId xmlns:a16="http://schemas.microsoft.com/office/drawing/2014/main" id="{533EBB9F-2225-45E9-AAAB-9AF9003BA1DE}"/>
              </a:ext>
            </a:extLst>
          </p:cNvPr>
          <p:cNvSpPr>
            <a:spLocks xmlns:a="http://schemas.openxmlformats.org/drawingml/2006/main" noGrp="1"/>
          </p:cNvSpPr>
          <p:nvPr/>
        </p:nvSpPr>
        <p:spPr>
          <a:xfrm xmlns:a="http://schemas.openxmlformats.org/drawingml/2006/main">
            <a:off x="2038350" y="5648325"/>
            <a:ext cx="672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0C1112"/>
                </a:solidFill>
                <a:latin typeface="Arial"/>
                <a:ea typeface="Arial"/>
                <a:cs typeface="Arial"/>
              </a:defRPr>
            </a:defPPr>
          </a:lstStyle>
          <a:p xmlns:a="http://schemas.openxmlformats.org/drawingml/2006/main">
            <a:pPr>
              <a:defRPr sz="1800" b="0" i="0">
                <a:solidFill>
                  <a:srgbClr val="0C1112"/>
                </a:solidFill>
                <a:latin typeface="Arial"/>
                <a:ea typeface="Arial"/>
                <a:cs typeface="Arial"/>
              </a:defRPr>
            </a:pPr>
            <a:r>
              <a:rPr sz="1800" b="0" i="0">
                <a:solidFill>
                  <a:srgbClr val="0C1112"/>
                </a:solidFill>
                <a:latin typeface="Arial"/>
                <a:ea typeface="Arial"/>
                <a:cs typeface="Arial"/>
              </a:rPr>
              <a:t>Reuse a preference only with the customer’s control.</a:t>
            </a:r>
          </a:p>
        </p:txBody>
      </p:sp>
      <p:pic>
        <p:nvPicPr>
          <p:cNvPr id="13" name="">
            <a:extLst xmlns:a="http://schemas.openxmlformats.org/drawingml/2006/main">
              <a:ext uri="{FF2B5EF4-FFF2-40B4-BE49-F238E27FC236}">
                <a16:creationId xmlns:a16="http://schemas.microsoft.com/office/drawing/2014/main" id="{D16ADE0A-8F2F-4267-963D-101D9E0E46E7}"/>
              </a:ext>
            </a:extLst>
          </p:cNvPr>
          <p:cNvPicPr>
            <a:picLocks xmlns:a="http://schemas.openxmlformats.org/drawingml/2006/main" noChangeAspect="1"/>
          </p:cNvPicPr>
          <p:nvPr/>
        </p:nvPicPr>
        <p:blipFill>
          <a:blip xmlns:r="http://schemas.openxmlformats.org/officeDocument/2006/relationships" xmlns:a="http://schemas.openxmlformats.org/drawingml/2006/main" r:embed="R6efee9e6396d45c4"/>
          <a:srcRect xmlns:a="http://schemas.openxmlformats.org/drawingml/2006/main" l="6092" t="8539" r="5862" b="1933"/>
          <a:stretch xmlns:a="http://schemas.openxmlformats.org/drawingml/2006/main"/>
        </p:blipFill>
        <p:spPr>
          <a:xfrm xmlns:a="http://schemas.openxmlformats.org/drawingml/2006/main">
            <a:off x="9296400" y="1438275"/>
            <a:ext cx="2152650" cy="4676775"/>
          </a:xfrm>
          <a:prstGeom xmlns:a="http://schemas.openxmlformats.org/drawingml/2006/main" prst="roundRect">
            <a:avLst>
              <a:gd name="adj" fmla="val 15044"/>
            </a:avLst>
          </a:prstGeom>
        </p:spPr>
      </p:pic>
      <p:sp>
        <p:nvSpPr>
          <p:cNvPr id="14" name="Separate opt-in. Example preferences came from fic">
            <a:extLst xmlns:a="http://schemas.openxmlformats.org/drawingml/2006/main">
              <a:ext uri="{FF2B5EF4-FFF2-40B4-BE49-F238E27FC236}">
                <a16:creationId xmlns:a16="http://schemas.microsoft.com/office/drawing/2014/main" id="{53E90E69-0DB1-44C4-9F4E-101DFD272E5B}"/>
              </a:ext>
            </a:extLst>
          </p:cNvPr>
          <p:cNvSpPr>
            <a:spLocks xmlns:a="http://schemas.openxmlformats.org/drawingml/2006/main" noGrp="1"/>
          </p:cNvSpPr>
          <p:nvPr/>
        </p:nvSpPr>
        <p:spPr>
          <a:xfrm xmlns:a="http://schemas.openxmlformats.org/drawingml/2006/main">
            <a:off x="2028825" y="6229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343D42"/>
                </a:solidFill>
                <a:latin typeface="Arial"/>
                <a:ea typeface="Arial"/>
                <a:cs typeface="Arial"/>
              </a:defRPr>
            </a:defPPr>
          </a:lstStyle>
          <a:p xmlns:a="http://schemas.openxmlformats.org/drawingml/2006/main">
            <a:pPr>
              <a:defRPr sz="1050" b="0" i="0">
                <a:solidFill>
                  <a:srgbClr val="343D42"/>
                </a:solidFill>
                <a:latin typeface="Arial"/>
                <a:ea typeface="Arial"/>
                <a:cs typeface="Arial"/>
              </a:defRPr>
            </a:pPr>
            <a:r>
              <a:rPr sz="1050" b="0" i="0">
                <a:solidFill>
                  <a:srgbClr val="343D42"/>
                </a:solidFill>
                <a:latin typeface="Arial"/>
                <a:ea typeface="Arial"/>
                <a:cs typeface="Arial"/>
              </a:rPr>
              <a:t>Separate opt-in. Example preferences came from fictional test activity. Searches show interest, not a completed visit.</a:t>
            </a:r>
          </a:p>
        </p:txBody>
      </p:sp>
    </p:spTree>
    <p:extLst>
      <p:ext uri="{BB962C8B-B14F-4D97-AF65-F5344CB8AC3E}">
        <p14:creationId xmlns:p14="http://schemas.microsoft.com/office/powerpoint/2010/main" val="4050039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31DDF41-E92A-49DA-B422-0A79AF89B63E}"/>
              </a:ext>
            </a:extLst>
          </p:cNvPr>
          <p:cNvPicPr>
            <a:picLocks xmlns:a="http://schemas.openxmlformats.org/drawingml/2006/main" noChangeAspect="1"/>
          </p:cNvPicPr>
          <p:nvPr/>
        </p:nvPicPr>
        <p:blipFill>
          <a:blip xmlns:r="http://schemas.openxmlformats.org/officeDocument/2006/relationships" xmlns:a="http://schemas.openxmlformats.org/drawingml/2006/main" r:embed="Rdf02d03b6b2542a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ripFit">
            <a:extLst xmlns:a="http://schemas.openxmlformats.org/drawingml/2006/main">
              <a:ext uri="{FF2B5EF4-FFF2-40B4-BE49-F238E27FC236}">
                <a16:creationId xmlns:a16="http://schemas.microsoft.com/office/drawing/2014/main" id="{073C347E-691E-4320-ADE2-F7D4D3986B48}"/>
              </a:ext>
            </a:extLst>
          </p:cNvPr>
          <p:cNvSpPr>
            <a:spLocks xmlns:a="http://schemas.openxmlformats.org/drawingml/2006/main" noGrp="1"/>
          </p:cNvSpPr>
          <p:nvPr/>
        </p:nvSpPr>
        <p:spPr>
          <a:xfrm xmlns:a="http://schemas.openxmlformats.org/drawingml/2006/main">
            <a:off x="381000" y="371475"/>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i="0">
                <a:solidFill>
                  <a:srgbClr val="0C1112"/>
                </a:solidFill>
                <a:latin typeface="Arial"/>
                <a:ea typeface="Arial"/>
                <a:cs typeface="Arial"/>
              </a:defRPr>
            </a:defPPr>
          </a:lstStyle>
          <a:p xmlns:a="http://schemas.openxmlformats.org/drawingml/2006/main">
            <a:pPr>
              <a:defRPr sz="1650" b="1" i="0">
                <a:solidFill>
                  <a:srgbClr val="0C1112"/>
                </a:solidFill>
                <a:latin typeface="Arial"/>
                <a:ea typeface="Arial"/>
                <a:cs typeface="Arial"/>
              </a:defRPr>
            </a:pPr>
            <a:r>
              <a:rPr sz="1650" b="1" i="0">
                <a:solidFill>
                  <a:srgbClr val="0C1112"/>
                </a:solidFill>
                <a:latin typeface="Arial"/>
                <a:ea typeface="Arial"/>
                <a:cs typeface="Arial"/>
              </a:rPr>
              <a:t>TripFit</a:t>
            </a:r>
          </a:p>
        </p:txBody>
      </p:sp>
      <p:sp>
        <p:nvSpPr>
          <p:cNvPr id="3" name="PEGASUS&#10;HACKATHON">
            <a:extLst xmlns:a="http://schemas.openxmlformats.org/drawingml/2006/main">
              <a:ext uri="{FF2B5EF4-FFF2-40B4-BE49-F238E27FC236}">
                <a16:creationId xmlns:a16="http://schemas.microsoft.com/office/drawing/2014/main" id="{D02D0119-66B3-4AEC-8735-FF9C28CE335E}"/>
              </a:ext>
            </a:extLst>
          </p:cNvPr>
          <p:cNvSpPr>
            <a:spLocks xmlns:a="http://schemas.openxmlformats.org/drawingml/2006/main" noGrp="1"/>
          </p:cNvSpPr>
          <p:nvPr/>
        </p:nvSpPr>
        <p:spPr>
          <a:xfrm xmlns:a="http://schemas.openxmlformats.org/drawingml/2006/main">
            <a:off x="2028825" y="352425"/>
            <a:ext cx="6191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PEGASUS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HACKATHON</a:t>
            </a:r>
          </a:p>
        </p:txBody>
      </p:sp>
      <p:sp>
        <p:nvSpPr>
          <p:cNvPr id="4" name="05 / Data collection and control">
            <a:extLst xmlns:a="http://schemas.openxmlformats.org/drawingml/2006/main">
              <a:ext uri="{FF2B5EF4-FFF2-40B4-BE49-F238E27FC236}">
                <a16:creationId xmlns:a16="http://schemas.microsoft.com/office/drawing/2014/main" id="{838C2ED2-9109-4E2A-A755-F33A0BC30A1C}"/>
              </a:ext>
            </a:extLst>
          </p:cNvPr>
          <p:cNvSpPr>
            <a:spLocks xmlns:a="http://schemas.openxmlformats.org/drawingml/2006/main" noGrp="1"/>
          </p:cNvSpPr>
          <p:nvPr/>
        </p:nvSpPr>
        <p:spPr>
          <a:xfrm xmlns:a="http://schemas.openxmlformats.org/drawingml/2006/main">
            <a:off x="8667750" y="457200"/>
            <a:ext cx="3133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343D42"/>
                </a:solidFill>
                <a:latin typeface="Arial"/>
                <a:ea typeface="Arial"/>
                <a:cs typeface="Arial"/>
              </a:defRPr>
            </a:defPPr>
          </a:lstStyle>
          <a:p xmlns:a="http://schemas.openxmlformats.org/drawingml/2006/main">
            <a:pPr>
              <a:defRPr sz="1350" b="0" i="0">
                <a:solidFill>
                  <a:srgbClr val="343D42"/>
                </a:solidFill>
                <a:latin typeface="Arial"/>
                <a:ea typeface="Arial"/>
                <a:cs typeface="Arial"/>
              </a:defRPr>
            </a:pPr>
            <a:r>
              <a:rPr sz="1350" b="0" i="0">
                <a:solidFill>
                  <a:srgbClr val="343D42"/>
                </a:solidFill>
                <a:latin typeface="Arial"/>
                <a:ea typeface="Arial"/>
                <a:cs typeface="Arial"/>
              </a:rPr>
              <a:t>05 / Data collection and control</a:t>
            </a:r>
          </a:p>
        </p:txBody>
      </p:sp>
      <p:sp>
        <p:nvSpPr>
          <p:cNvPr id="5" name="Editorial divider">
            <a:extLst xmlns:a="http://schemas.openxmlformats.org/drawingml/2006/main">
              <a:ext uri="{FF2B5EF4-FFF2-40B4-BE49-F238E27FC236}">
                <a16:creationId xmlns:a16="http://schemas.microsoft.com/office/drawing/2014/main" id="{1E565405-D91C-4532-9300-979189DD5631}"/>
              </a:ext>
            </a:extLst>
          </p:cNvPr>
          <p:cNvSpPr>
            <a:spLocks xmlns:a="http://schemas.openxmlformats.org/drawingml/2006/main" noGrp="1"/>
          </p:cNvSpPr>
          <p:nvPr/>
        </p:nvSpPr>
        <p:spPr>
          <a:xfrm xmlns:a="http://schemas.openxmlformats.org/drawingml/2006/main">
            <a:off x="371475" y="1257300"/>
            <a:ext cx="11439525" cy="9525"/>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6" name="Editorial divider">
            <a:extLst xmlns:a="http://schemas.openxmlformats.org/drawingml/2006/main">
              <a:ext uri="{FF2B5EF4-FFF2-40B4-BE49-F238E27FC236}">
                <a16:creationId xmlns:a16="http://schemas.microsoft.com/office/drawing/2014/main" id="{A5D4E7C6-2B78-4353-901D-AD7B20599DBD}"/>
              </a:ext>
            </a:extLst>
          </p:cNvPr>
          <p:cNvSpPr>
            <a:spLocks xmlns:a="http://schemas.openxmlformats.org/drawingml/2006/main" noGrp="1"/>
          </p:cNvSpPr>
          <p:nvPr/>
        </p:nvSpPr>
        <p:spPr>
          <a:xfrm xmlns:a="http://schemas.openxmlformats.org/drawingml/2006/main">
            <a:off x="1704975" y="361950"/>
            <a:ext cx="9525" cy="6134100"/>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7" name="07">
            <a:extLst xmlns:a="http://schemas.openxmlformats.org/drawingml/2006/main">
              <a:ext uri="{FF2B5EF4-FFF2-40B4-BE49-F238E27FC236}">
                <a16:creationId xmlns:a16="http://schemas.microsoft.com/office/drawing/2014/main" id="{B51DCEA9-541B-48B8-BFCD-BD2AAD9D476F}"/>
              </a:ext>
            </a:extLst>
          </p:cNvPr>
          <p:cNvSpPr>
            <a:spLocks xmlns:a="http://schemas.openxmlformats.org/drawingml/2006/main" noGrp="1"/>
          </p:cNvSpPr>
          <p:nvPr/>
        </p:nvSpPr>
        <p:spPr>
          <a:xfrm xmlns:a="http://schemas.openxmlformats.org/drawingml/2006/main">
            <a:off x="390525" y="15811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i="0">
                <a:solidFill>
                  <a:srgbClr val="0C1112"/>
                </a:solidFill>
                <a:latin typeface="Arial"/>
                <a:ea typeface="Arial"/>
                <a:cs typeface="Arial"/>
              </a:defRPr>
            </a:defPPr>
          </a:lstStyle>
          <a:p xmlns:a="http://schemas.openxmlformats.org/drawingml/2006/main">
            <a:pPr>
              <a:defRPr sz="1725" b="1" i="0">
                <a:solidFill>
                  <a:srgbClr val="0C1112"/>
                </a:solidFill>
                <a:latin typeface="Arial"/>
                <a:ea typeface="Arial"/>
                <a:cs typeface="Arial"/>
              </a:defRPr>
            </a:pPr>
            <a:r>
              <a:rPr sz="1725" b="1" i="0">
                <a:solidFill>
                  <a:srgbClr val="0C1112"/>
                </a:solidFill>
                <a:latin typeface="Arial"/>
                <a:ea typeface="Arial"/>
                <a:cs typeface="Arial"/>
              </a:rPr>
              <a:t>07</a:t>
            </a:r>
          </a:p>
        </p:txBody>
      </p:sp>
      <p:sp>
        <p:nvSpPr>
          <p:cNvPr id="8" name="09 OCT 2026">
            <a:extLst xmlns:a="http://schemas.openxmlformats.org/drawingml/2006/main">
              <a:ext uri="{FF2B5EF4-FFF2-40B4-BE49-F238E27FC236}">
                <a16:creationId xmlns:a16="http://schemas.microsoft.com/office/drawing/2014/main" id="{D6203887-9636-41F7-9101-1401C465B168}"/>
              </a:ext>
            </a:extLst>
          </p:cNvPr>
          <p:cNvSpPr>
            <a:spLocks xmlns:a="http://schemas.openxmlformats.org/drawingml/2006/main" noGrp="1"/>
          </p:cNvSpPr>
          <p:nvPr/>
        </p:nvSpPr>
        <p:spPr>
          <a:xfrm xmlns:a="http://schemas.openxmlformats.org/drawingml/2006/main">
            <a:off x="381000" y="614362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i="0">
                <a:solidFill>
                  <a:srgbClr val="343D42"/>
                </a:solidFill>
                <a:latin typeface="Arial"/>
                <a:ea typeface="Arial"/>
                <a:cs typeface="Arial"/>
              </a:defRPr>
            </a:defPPr>
          </a:lstStyle>
          <a:p xmlns:a="http://schemas.openxmlformats.org/drawingml/2006/main">
            <a:pPr>
              <a:defRPr sz="975" b="0" i="0">
                <a:solidFill>
                  <a:srgbClr val="343D42"/>
                </a:solidFill>
                <a:latin typeface="Arial"/>
                <a:ea typeface="Arial"/>
                <a:cs typeface="Arial"/>
              </a:defRPr>
            </a:pPr>
            <a:r>
              <a:rPr sz="975" b="0" i="0">
                <a:solidFill>
                  <a:srgbClr val="343D42"/>
                </a:solidFill>
                <a:latin typeface="Arial"/>
                <a:ea typeface="Arial"/>
                <a:cs typeface="Arial"/>
              </a:rPr>
              <a:t>09 OCT 2026</a:t>
            </a:r>
          </a:p>
        </p:txBody>
      </p:sp>
      <p:sp>
        <p:nvSpPr>
          <p:cNvPr id="9" name="Personalisation&#10;needs permission">
            <a:extLst xmlns:a="http://schemas.openxmlformats.org/drawingml/2006/main">
              <a:ext uri="{FF2B5EF4-FFF2-40B4-BE49-F238E27FC236}">
                <a16:creationId xmlns:a16="http://schemas.microsoft.com/office/drawing/2014/main" id="{AEAF7C0B-54AD-4996-9769-DBAB863F0F1B}"/>
              </a:ext>
            </a:extLst>
          </p:cNvPr>
          <p:cNvSpPr>
            <a:spLocks xmlns:a="http://schemas.openxmlformats.org/drawingml/2006/main" noGrp="1"/>
          </p:cNvSpPr>
          <p:nvPr/>
        </p:nvSpPr>
        <p:spPr>
          <a:xfrm xmlns:a="http://schemas.openxmlformats.org/drawingml/2006/main">
            <a:off x="2019300" y="1571625"/>
            <a:ext cx="6667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i="0">
                <a:solidFill>
                  <a:srgbClr val="0C1112"/>
                </a:solidFill>
                <a:latin typeface="Arial"/>
                <a:ea typeface="Arial"/>
                <a:cs typeface="Arial"/>
              </a:defRPr>
            </a:defPPr>
          </a:lstStyle>
          <a:p xmlns:a="http://schemas.openxmlformats.org/drawingml/2006/main">
            <a:pPr>
              <a:defRPr sz="4200" b="1" i="0">
                <a:solidFill>
                  <a:srgbClr val="0C1112"/>
                </a:solidFill>
                <a:latin typeface="Arial"/>
                <a:ea typeface="Arial"/>
                <a:cs typeface="Arial"/>
              </a:defRPr>
            </a:pPr>
            <a:r>
              <a:rPr sz="4200" b="1" i="0">
                <a:solidFill>
                  <a:srgbClr val="0C1112"/>
                </a:solidFill>
                <a:latin typeface="Arial"/>
                <a:ea typeface="Arial"/>
                <a:cs typeface="Arial"/>
              </a:rPr>
              <a:t>Personalisation</a:t>
            </a:r>
          </a:p>
          <a:p xmlns:a="http://schemas.openxmlformats.org/drawingml/2006/main">
            <a:pPr>
              <a:defRPr sz="4200" b="1" i="0">
                <a:solidFill>
                  <a:srgbClr val="0C1112"/>
                </a:solidFill>
                <a:latin typeface="Arial"/>
                <a:ea typeface="Arial"/>
                <a:cs typeface="Arial"/>
              </a:defRPr>
            </a:pPr>
            <a:r>
              <a:rPr sz="4200" b="1" i="0">
                <a:solidFill>
                  <a:srgbClr val="0C1112"/>
                </a:solidFill>
                <a:latin typeface="Arial"/>
                <a:ea typeface="Arial"/>
                <a:cs typeface="Arial"/>
              </a:rPr>
              <a:t>needs permission</a:t>
            </a:r>
          </a:p>
        </p:txBody>
      </p:sp>
      <p:sp>
        <p:nvSpPr>
          <p:cNvPr id="10" name="Personal travel memory">
            <a:extLst xmlns:a="http://schemas.openxmlformats.org/drawingml/2006/main">
              <a:ext uri="{FF2B5EF4-FFF2-40B4-BE49-F238E27FC236}">
                <a16:creationId xmlns:a16="http://schemas.microsoft.com/office/drawing/2014/main" id="{23A8385F-572A-4F9E-A8CF-BE396ADA1EB4}"/>
              </a:ext>
            </a:extLst>
          </p:cNvPr>
          <p:cNvSpPr>
            <a:spLocks xmlns:a="http://schemas.openxmlformats.org/drawingml/2006/main" noGrp="1"/>
          </p:cNvSpPr>
          <p:nvPr/>
        </p:nvSpPr>
        <p:spPr>
          <a:xfrm xmlns:a="http://schemas.openxmlformats.org/drawingml/2006/main">
            <a:off x="2038350" y="3305175"/>
            <a:ext cx="6829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i="0">
                <a:solidFill>
                  <a:srgbClr val="0C1112"/>
                </a:solidFill>
                <a:latin typeface="Arial"/>
                <a:ea typeface="Arial"/>
                <a:cs typeface="Arial"/>
              </a:defRPr>
            </a:defPPr>
          </a:lstStyle>
          <a:p xmlns:a="http://schemas.openxmlformats.org/drawingml/2006/main">
            <a:pPr>
              <a:defRPr sz="2325" b="1" i="0">
                <a:solidFill>
                  <a:srgbClr val="0C1112"/>
                </a:solidFill>
                <a:latin typeface="Arial"/>
                <a:ea typeface="Arial"/>
                <a:cs typeface="Arial"/>
              </a:defRPr>
            </a:pPr>
            <a:r>
              <a:rPr sz="2325" b="1" i="0">
                <a:solidFill>
                  <a:srgbClr val="0C1112"/>
                </a:solidFill>
                <a:latin typeface="Arial"/>
                <a:ea typeface="Arial"/>
                <a:cs typeface="Arial"/>
              </a:rPr>
              <a:t>Personal travel memory</a:t>
            </a:r>
          </a:p>
        </p:txBody>
      </p:sp>
      <p:sp>
        <p:nvSpPr>
          <p:cNvPr id="11" name="Confirmed routes, dates and choices.&#10;Pause, inspec">
            <a:extLst xmlns:a="http://schemas.openxmlformats.org/drawingml/2006/main">
              <a:ext uri="{FF2B5EF4-FFF2-40B4-BE49-F238E27FC236}">
                <a16:creationId xmlns:a16="http://schemas.microsoft.com/office/drawing/2014/main" id="{6946C42A-10F3-473D-AD07-B42AA5FD7DDA}"/>
              </a:ext>
            </a:extLst>
          </p:cNvPr>
          <p:cNvSpPr>
            <a:spLocks xmlns:a="http://schemas.openxmlformats.org/drawingml/2006/main" noGrp="1"/>
          </p:cNvSpPr>
          <p:nvPr/>
        </p:nvSpPr>
        <p:spPr>
          <a:xfrm xmlns:a="http://schemas.openxmlformats.org/drawingml/2006/main">
            <a:off x="2038350" y="3886200"/>
            <a:ext cx="6838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i="0">
                <a:solidFill>
                  <a:srgbClr val="0C1112"/>
                </a:solidFill>
                <a:latin typeface="Arial"/>
                <a:ea typeface="Arial"/>
                <a:cs typeface="Arial"/>
              </a:defRPr>
            </a:defPPr>
          </a:lstStyle>
          <a:p xmlns:a="http://schemas.openxmlformats.org/drawingml/2006/main">
            <a:pPr>
              <a:defRPr sz="1950" b="0" i="0">
                <a:solidFill>
                  <a:srgbClr val="0C1112"/>
                </a:solidFill>
                <a:latin typeface="Arial"/>
                <a:ea typeface="Arial"/>
                <a:cs typeface="Arial"/>
              </a:defRPr>
            </a:pPr>
            <a:r>
              <a:rPr sz="1950" b="0" i="0">
                <a:solidFill>
                  <a:srgbClr val="0C1112"/>
                </a:solidFill>
                <a:latin typeface="Arial"/>
                <a:ea typeface="Arial"/>
                <a:cs typeface="Arial"/>
              </a:rPr>
              <a:t>Confirmed routes, dates and choices.</a:t>
            </a:r>
          </a:p>
          <a:p xmlns:a="http://schemas.openxmlformats.org/drawingml/2006/main">
            <a:pPr>
              <a:defRPr sz="1950" b="0" i="0">
                <a:solidFill>
                  <a:srgbClr val="0C1112"/>
                </a:solidFill>
                <a:latin typeface="Arial"/>
                <a:ea typeface="Arial"/>
                <a:cs typeface="Arial"/>
              </a:defRPr>
            </a:pPr>
            <a:r>
              <a:rPr sz="1950" b="0" i="0">
                <a:solidFill>
                  <a:srgbClr val="0C1112"/>
                </a:solidFill>
                <a:latin typeface="Arial"/>
                <a:ea typeface="Arial"/>
                <a:cs typeface="Arial"/>
              </a:rPr>
              <a:t>Pause, inspect, export or erase the profile.</a:t>
            </a:r>
          </a:p>
        </p:txBody>
      </p:sp>
      <p:sp>
        <p:nvSpPr>
          <p:cNvPr id="12" name="Separate airline analytics">
            <a:extLst xmlns:a="http://schemas.openxmlformats.org/drawingml/2006/main">
              <a:ext uri="{FF2B5EF4-FFF2-40B4-BE49-F238E27FC236}">
                <a16:creationId xmlns:a16="http://schemas.microsoft.com/office/drawing/2014/main" id="{BACE04C4-CBEF-43FD-8E5E-29CCA80B374B}"/>
              </a:ext>
            </a:extLst>
          </p:cNvPr>
          <p:cNvSpPr>
            <a:spLocks xmlns:a="http://schemas.openxmlformats.org/drawingml/2006/main" noGrp="1"/>
          </p:cNvSpPr>
          <p:nvPr/>
        </p:nvSpPr>
        <p:spPr>
          <a:xfrm xmlns:a="http://schemas.openxmlformats.org/drawingml/2006/main">
            <a:off x="2038350" y="5048250"/>
            <a:ext cx="6848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i="0">
                <a:solidFill>
                  <a:srgbClr val="0C1112"/>
                </a:solidFill>
                <a:latin typeface="Arial"/>
                <a:ea typeface="Arial"/>
                <a:cs typeface="Arial"/>
              </a:defRPr>
            </a:defPPr>
          </a:lstStyle>
          <a:p xmlns:a="http://schemas.openxmlformats.org/drawingml/2006/main">
            <a:pPr>
              <a:defRPr sz="2325" b="1" i="0">
                <a:solidFill>
                  <a:srgbClr val="0C1112"/>
                </a:solidFill>
                <a:latin typeface="Arial"/>
                <a:ea typeface="Arial"/>
                <a:cs typeface="Arial"/>
              </a:defRPr>
            </a:pPr>
            <a:r>
              <a:rPr sz="2325" b="1" i="0">
                <a:solidFill>
                  <a:srgbClr val="0C1112"/>
                </a:solidFill>
                <a:latin typeface="Arial"/>
                <a:ea typeface="Arial"/>
                <a:cs typeface="Arial"/>
              </a:rPr>
              <a:t>Separate airline analytics</a:t>
            </a:r>
          </a:p>
        </p:txBody>
      </p:sp>
      <p:sp>
        <p:nvSpPr>
          <p:cNvPr id="13" name="Pseudonymous events, active time and errors.">
            <a:extLst xmlns:a="http://schemas.openxmlformats.org/drawingml/2006/main">
              <a:ext uri="{FF2B5EF4-FFF2-40B4-BE49-F238E27FC236}">
                <a16:creationId xmlns:a16="http://schemas.microsoft.com/office/drawing/2014/main" id="{81C3D4C4-C2A7-4395-8662-BED898F37DFE}"/>
              </a:ext>
            </a:extLst>
          </p:cNvPr>
          <p:cNvSpPr>
            <a:spLocks xmlns:a="http://schemas.openxmlformats.org/drawingml/2006/main" noGrp="1"/>
          </p:cNvSpPr>
          <p:nvPr/>
        </p:nvSpPr>
        <p:spPr>
          <a:xfrm xmlns:a="http://schemas.openxmlformats.org/drawingml/2006/main">
            <a:off x="2038350" y="5610225"/>
            <a:ext cx="6838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Pseudonymous events, active time and errors.</a:t>
            </a:r>
          </a:p>
        </p:txBody>
      </p:sp>
      <p:pic>
        <p:nvPicPr>
          <p:cNvPr id="14" name="">
            <a:extLst xmlns:a="http://schemas.openxmlformats.org/drawingml/2006/main">
              <a:ext uri="{FF2B5EF4-FFF2-40B4-BE49-F238E27FC236}">
                <a16:creationId xmlns:a16="http://schemas.microsoft.com/office/drawing/2014/main" id="{1751C98B-A93D-42AB-9457-8475806F6BEA}"/>
              </a:ext>
            </a:extLst>
          </p:cNvPr>
          <p:cNvPicPr>
            <a:picLocks xmlns:a="http://schemas.openxmlformats.org/drawingml/2006/main" noChangeAspect="1"/>
          </p:cNvPicPr>
          <p:nvPr/>
        </p:nvPicPr>
        <p:blipFill>
          <a:blip xmlns:r="http://schemas.openxmlformats.org/officeDocument/2006/relationships" xmlns:a="http://schemas.openxmlformats.org/drawingml/2006/main" r:embed="R5fc892db842740af"/>
          <a:srcRect xmlns:a="http://schemas.openxmlformats.org/drawingml/2006/main" l="59700" t="9000" r="700" b="1400"/>
          <a:stretch xmlns:a="http://schemas.openxmlformats.org/drawingml/2006/main"/>
        </p:blipFill>
        <p:spPr>
          <a:xfrm xmlns:a="http://schemas.openxmlformats.org/drawingml/2006/main">
            <a:off x="9115425" y="1609725"/>
            <a:ext cx="2409825" cy="3838575"/>
          </a:xfrm>
          <a:prstGeom xmlns:a="http://schemas.openxmlformats.org/drawingml/2006/main" prst="roundRect">
            <a:avLst>
              <a:gd name="adj" fmla="val 7115"/>
            </a:avLst>
          </a:prstGeom>
        </p:spPr>
      </p:pic>
      <p:sp>
        <p:nvSpPr>
          <p:cNvPr id="15" name="Stored memory/analytics exclude raw text, photos, ">
            <a:extLst xmlns:a="http://schemas.openxmlformats.org/drawingml/2006/main">
              <a:ext uri="{FF2B5EF4-FFF2-40B4-BE49-F238E27FC236}">
                <a16:creationId xmlns:a16="http://schemas.microsoft.com/office/drawing/2014/main" id="{DAF76523-C994-4EAE-8419-20D68CC58965}"/>
              </a:ext>
            </a:extLst>
          </p:cNvPr>
          <p:cNvSpPr>
            <a:spLocks xmlns:a="http://schemas.openxmlformats.org/drawingml/2006/main" noGrp="1"/>
          </p:cNvSpPr>
          <p:nvPr/>
        </p:nvSpPr>
        <p:spPr>
          <a:xfrm xmlns:a="http://schemas.openxmlformats.org/drawingml/2006/main">
            <a:off x="2028825" y="6229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343D42"/>
                </a:solidFill>
                <a:latin typeface="Arial"/>
                <a:ea typeface="Arial"/>
                <a:cs typeface="Arial"/>
              </a:defRPr>
            </a:defPPr>
          </a:lstStyle>
          <a:p xmlns:a="http://schemas.openxmlformats.org/drawingml/2006/main">
            <a:pPr>
              <a:defRPr sz="1050" b="0" i="0">
                <a:solidFill>
                  <a:srgbClr val="343D42"/>
                </a:solidFill>
                <a:latin typeface="Arial"/>
                <a:ea typeface="Arial"/>
                <a:cs typeface="Arial"/>
              </a:defRPr>
            </a:pPr>
            <a:r>
              <a:rPr sz="1050" b="0" i="0">
                <a:solidFill>
                  <a:srgbClr val="343D42"/>
                </a:solidFill>
                <a:latin typeface="Arial"/>
                <a:ea typeface="Arial"/>
                <a:cs typeface="Arial"/>
              </a:rPr>
              <a:t>Stored memory/analytics exclude raw text, photos, names and payments. Requested AI analysis sends selected inputs for processing.</a:t>
            </a:r>
          </a:p>
        </p:txBody>
      </p:sp>
    </p:spTree>
    <p:extLst>
      <p:ext uri="{BB962C8B-B14F-4D97-AF65-F5344CB8AC3E}">
        <p14:creationId xmlns:p14="http://schemas.microsoft.com/office/powerpoint/2010/main" val="1353163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8813E61-0F2F-421D-A5F7-493F83659B19}"/>
              </a:ext>
            </a:extLst>
          </p:cNvPr>
          <p:cNvPicPr>
            <a:picLocks xmlns:a="http://schemas.openxmlformats.org/drawingml/2006/main" noChangeAspect="1"/>
          </p:cNvPicPr>
          <p:nvPr/>
        </p:nvPicPr>
        <p:blipFill>
          <a:blip xmlns:r="http://schemas.openxmlformats.org/officeDocument/2006/relationships" xmlns:a="http://schemas.openxmlformats.org/drawingml/2006/main" r:embed="R0d7c3f53393542b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ripFit">
            <a:extLst xmlns:a="http://schemas.openxmlformats.org/drawingml/2006/main">
              <a:ext uri="{FF2B5EF4-FFF2-40B4-BE49-F238E27FC236}">
                <a16:creationId xmlns:a16="http://schemas.microsoft.com/office/drawing/2014/main" id="{63F81C22-9F91-48D6-A913-0A948AABCA34}"/>
              </a:ext>
            </a:extLst>
          </p:cNvPr>
          <p:cNvSpPr>
            <a:spLocks xmlns:a="http://schemas.openxmlformats.org/drawingml/2006/main" noGrp="1"/>
          </p:cNvSpPr>
          <p:nvPr/>
        </p:nvSpPr>
        <p:spPr>
          <a:xfrm xmlns:a="http://schemas.openxmlformats.org/drawingml/2006/main">
            <a:off x="381000" y="371475"/>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i="0">
                <a:solidFill>
                  <a:srgbClr val="0C1112"/>
                </a:solidFill>
                <a:latin typeface="Arial"/>
                <a:ea typeface="Arial"/>
                <a:cs typeface="Arial"/>
              </a:defRPr>
            </a:defPPr>
          </a:lstStyle>
          <a:p xmlns:a="http://schemas.openxmlformats.org/drawingml/2006/main">
            <a:pPr>
              <a:defRPr sz="1650" b="1" i="0">
                <a:solidFill>
                  <a:srgbClr val="0C1112"/>
                </a:solidFill>
                <a:latin typeface="Arial"/>
                <a:ea typeface="Arial"/>
                <a:cs typeface="Arial"/>
              </a:defRPr>
            </a:pPr>
            <a:r>
              <a:rPr sz="1650" b="1" i="0">
                <a:solidFill>
                  <a:srgbClr val="0C1112"/>
                </a:solidFill>
                <a:latin typeface="Arial"/>
                <a:ea typeface="Arial"/>
                <a:cs typeface="Arial"/>
              </a:rPr>
              <a:t>TripFit</a:t>
            </a:r>
          </a:p>
        </p:txBody>
      </p:sp>
      <p:sp>
        <p:nvSpPr>
          <p:cNvPr id="3" name="PEGASUS&#10;HACKATHON">
            <a:extLst xmlns:a="http://schemas.openxmlformats.org/drawingml/2006/main">
              <a:ext uri="{FF2B5EF4-FFF2-40B4-BE49-F238E27FC236}">
                <a16:creationId xmlns:a16="http://schemas.microsoft.com/office/drawing/2014/main" id="{05E75121-D2B5-4201-BB69-DCFB823D87BE}"/>
              </a:ext>
            </a:extLst>
          </p:cNvPr>
          <p:cNvSpPr>
            <a:spLocks xmlns:a="http://schemas.openxmlformats.org/drawingml/2006/main" noGrp="1"/>
          </p:cNvSpPr>
          <p:nvPr/>
        </p:nvSpPr>
        <p:spPr>
          <a:xfrm xmlns:a="http://schemas.openxmlformats.org/drawingml/2006/main">
            <a:off x="2028825" y="352425"/>
            <a:ext cx="6191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PEGASUS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HACKATHON</a:t>
            </a:r>
          </a:p>
        </p:txBody>
      </p:sp>
      <p:sp>
        <p:nvSpPr>
          <p:cNvPr id="4" name="06 / Airline improvement loop">
            <a:extLst xmlns:a="http://schemas.openxmlformats.org/drawingml/2006/main">
              <a:ext uri="{FF2B5EF4-FFF2-40B4-BE49-F238E27FC236}">
                <a16:creationId xmlns:a16="http://schemas.microsoft.com/office/drawing/2014/main" id="{EB83D294-6F43-4FB5-B80C-2709252727A6}"/>
              </a:ext>
            </a:extLst>
          </p:cNvPr>
          <p:cNvSpPr>
            <a:spLocks xmlns:a="http://schemas.openxmlformats.org/drawingml/2006/main" noGrp="1"/>
          </p:cNvSpPr>
          <p:nvPr/>
        </p:nvSpPr>
        <p:spPr>
          <a:xfrm xmlns:a="http://schemas.openxmlformats.org/drawingml/2006/main">
            <a:off x="8667750" y="457200"/>
            <a:ext cx="3133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343D42"/>
                </a:solidFill>
                <a:latin typeface="Arial"/>
                <a:ea typeface="Arial"/>
                <a:cs typeface="Arial"/>
              </a:defRPr>
            </a:defPPr>
          </a:lstStyle>
          <a:p xmlns:a="http://schemas.openxmlformats.org/drawingml/2006/main">
            <a:pPr>
              <a:defRPr sz="1350" b="0" i="0">
                <a:solidFill>
                  <a:srgbClr val="343D42"/>
                </a:solidFill>
                <a:latin typeface="Arial"/>
                <a:ea typeface="Arial"/>
                <a:cs typeface="Arial"/>
              </a:defRPr>
            </a:pPr>
            <a:r>
              <a:rPr sz="1350" b="0" i="0">
                <a:solidFill>
                  <a:srgbClr val="343D42"/>
                </a:solidFill>
                <a:latin typeface="Arial"/>
                <a:ea typeface="Arial"/>
                <a:cs typeface="Arial"/>
              </a:rPr>
              <a:t>06 / Airline improvement loop</a:t>
            </a:r>
          </a:p>
        </p:txBody>
      </p:sp>
      <p:sp>
        <p:nvSpPr>
          <p:cNvPr id="5" name="Editorial divider">
            <a:extLst xmlns:a="http://schemas.openxmlformats.org/drawingml/2006/main">
              <a:ext uri="{FF2B5EF4-FFF2-40B4-BE49-F238E27FC236}">
                <a16:creationId xmlns:a16="http://schemas.microsoft.com/office/drawing/2014/main" id="{296142CC-0BA3-435C-BD0A-21198C942E20}"/>
              </a:ext>
            </a:extLst>
          </p:cNvPr>
          <p:cNvSpPr>
            <a:spLocks xmlns:a="http://schemas.openxmlformats.org/drawingml/2006/main" noGrp="1"/>
          </p:cNvSpPr>
          <p:nvPr/>
        </p:nvSpPr>
        <p:spPr>
          <a:xfrm xmlns:a="http://schemas.openxmlformats.org/drawingml/2006/main">
            <a:off x="371475" y="1257300"/>
            <a:ext cx="11439525" cy="9525"/>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6" name="Editorial divider">
            <a:extLst xmlns:a="http://schemas.openxmlformats.org/drawingml/2006/main">
              <a:ext uri="{FF2B5EF4-FFF2-40B4-BE49-F238E27FC236}">
                <a16:creationId xmlns:a16="http://schemas.microsoft.com/office/drawing/2014/main" id="{ACB609FF-95E3-47A7-8FBA-10EBF2E46568}"/>
              </a:ext>
            </a:extLst>
          </p:cNvPr>
          <p:cNvSpPr>
            <a:spLocks xmlns:a="http://schemas.openxmlformats.org/drawingml/2006/main" noGrp="1"/>
          </p:cNvSpPr>
          <p:nvPr/>
        </p:nvSpPr>
        <p:spPr>
          <a:xfrm xmlns:a="http://schemas.openxmlformats.org/drawingml/2006/main">
            <a:off x="1704975" y="361950"/>
            <a:ext cx="9525" cy="6134100"/>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7" name="08">
            <a:extLst xmlns:a="http://schemas.openxmlformats.org/drawingml/2006/main">
              <a:ext uri="{FF2B5EF4-FFF2-40B4-BE49-F238E27FC236}">
                <a16:creationId xmlns:a16="http://schemas.microsoft.com/office/drawing/2014/main" id="{71C6F43F-5FF6-46DB-8EC3-A7082470F0F3}"/>
              </a:ext>
            </a:extLst>
          </p:cNvPr>
          <p:cNvSpPr>
            <a:spLocks xmlns:a="http://schemas.openxmlformats.org/drawingml/2006/main" noGrp="1"/>
          </p:cNvSpPr>
          <p:nvPr/>
        </p:nvSpPr>
        <p:spPr>
          <a:xfrm xmlns:a="http://schemas.openxmlformats.org/drawingml/2006/main">
            <a:off x="390525" y="15811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i="0">
                <a:solidFill>
                  <a:srgbClr val="0C1112"/>
                </a:solidFill>
                <a:latin typeface="Arial"/>
                <a:ea typeface="Arial"/>
                <a:cs typeface="Arial"/>
              </a:defRPr>
            </a:defPPr>
          </a:lstStyle>
          <a:p xmlns:a="http://schemas.openxmlformats.org/drawingml/2006/main">
            <a:pPr>
              <a:defRPr sz="1725" b="1" i="0">
                <a:solidFill>
                  <a:srgbClr val="0C1112"/>
                </a:solidFill>
                <a:latin typeface="Arial"/>
                <a:ea typeface="Arial"/>
                <a:cs typeface="Arial"/>
              </a:defRPr>
            </a:pPr>
            <a:r>
              <a:rPr sz="1725" b="1" i="0">
                <a:solidFill>
                  <a:srgbClr val="0C1112"/>
                </a:solidFill>
                <a:latin typeface="Arial"/>
                <a:ea typeface="Arial"/>
                <a:cs typeface="Arial"/>
              </a:rPr>
              <a:t>08</a:t>
            </a:r>
          </a:p>
        </p:txBody>
      </p:sp>
      <p:sp>
        <p:nvSpPr>
          <p:cNvPr id="8" name="09 OCT 2026">
            <a:extLst xmlns:a="http://schemas.openxmlformats.org/drawingml/2006/main">
              <a:ext uri="{FF2B5EF4-FFF2-40B4-BE49-F238E27FC236}">
                <a16:creationId xmlns:a16="http://schemas.microsoft.com/office/drawing/2014/main" id="{2D1F1A77-BC9C-427A-9DC8-321FEBD0C6E1}"/>
              </a:ext>
            </a:extLst>
          </p:cNvPr>
          <p:cNvSpPr>
            <a:spLocks xmlns:a="http://schemas.openxmlformats.org/drawingml/2006/main" noGrp="1"/>
          </p:cNvSpPr>
          <p:nvPr/>
        </p:nvSpPr>
        <p:spPr>
          <a:xfrm xmlns:a="http://schemas.openxmlformats.org/drawingml/2006/main">
            <a:off x="381000" y="614362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i="0">
                <a:solidFill>
                  <a:srgbClr val="343D42"/>
                </a:solidFill>
                <a:latin typeface="Arial"/>
                <a:ea typeface="Arial"/>
                <a:cs typeface="Arial"/>
              </a:defRPr>
            </a:defPPr>
          </a:lstStyle>
          <a:p xmlns:a="http://schemas.openxmlformats.org/drawingml/2006/main">
            <a:pPr>
              <a:defRPr sz="975" b="0" i="0">
                <a:solidFill>
                  <a:srgbClr val="343D42"/>
                </a:solidFill>
                <a:latin typeface="Arial"/>
                <a:ea typeface="Arial"/>
                <a:cs typeface="Arial"/>
              </a:defRPr>
            </a:pPr>
            <a:r>
              <a:rPr sz="975" b="0" i="0">
                <a:solidFill>
                  <a:srgbClr val="343D42"/>
                </a:solidFill>
                <a:latin typeface="Arial"/>
                <a:ea typeface="Arial"/>
                <a:cs typeface="Arial"/>
              </a:rPr>
              <a:t>09 OCT 2026</a:t>
            </a:r>
          </a:p>
        </p:txBody>
      </p:sp>
      <p:sp>
        <p:nvSpPr>
          <p:cNvPr id="9" name="Where the booking&#10;journey gets harder">
            <a:extLst xmlns:a="http://schemas.openxmlformats.org/drawingml/2006/main">
              <a:ext uri="{FF2B5EF4-FFF2-40B4-BE49-F238E27FC236}">
                <a16:creationId xmlns:a16="http://schemas.microsoft.com/office/drawing/2014/main" id="{71DF62F6-BAA2-4146-9534-239171888647}"/>
              </a:ext>
            </a:extLst>
          </p:cNvPr>
          <p:cNvSpPr>
            <a:spLocks xmlns:a="http://schemas.openxmlformats.org/drawingml/2006/main" noGrp="1"/>
          </p:cNvSpPr>
          <p:nvPr/>
        </p:nvSpPr>
        <p:spPr>
          <a:xfrm xmlns:a="http://schemas.openxmlformats.org/drawingml/2006/main">
            <a:off x="2019300" y="1571625"/>
            <a:ext cx="9525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i="0">
                <a:solidFill>
                  <a:srgbClr val="0C1112"/>
                </a:solidFill>
                <a:latin typeface="Arial"/>
                <a:ea typeface="Arial"/>
                <a:cs typeface="Arial"/>
              </a:defRPr>
            </a:defPPr>
          </a:lstStyle>
          <a:p xmlns:a="http://schemas.openxmlformats.org/drawingml/2006/main">
            <a:pPr>
              <a:defRPr sz="3825" b="1" i="0">
                <a:solidFill>
                  <a:srgbClr val="0C1112"/>
                </a:solidFill>
                <a:latin typeface="Arial"/>
                <a:ea typeface="Arial"/>
                <a:cs typeface="Arial"/>
              </a:defRPr>
            </a:pPr>
            <a:r>
              <a:rPr sz="3825" b="1" i="0">
                <a:solidFill>
                  <a:srgbClr val="0C1112"/>
                </a:solidFill>
                <a:latin typeface="Arial"/>
                <a:ea typeface="Arial"/>
                <a:cs typeface="Arial"/>
              </a:rPr>
              <a:t>Where the booking</a:t>
            </a:r>
          </a:p>
          <a:p xmlns:a="http://schemas.openxmlformats.org/drawingml/2006/main">
            <a:pPr>
              <a:defRPr sz="3825" b="1" i="0">
                <a:solidFill>
                  <a:srgbClr val="0C1112"/>
                </a:solidFill>
                <a:latin typeface="Arial"/>
                <a:ea typeface="Arial"/>
                <a:cs typeface="Arial"/>
              </a:defRPr>
            </a:pPr>
            <a:r>
              <a:rPr sz="3825" b="1" i="0">
                <a:solidFill>
                  <a:srgbClr val="0C1112"/>
                </a:solidFill>
                <a:latin typeface="Arial"/>
                <a:ea typeface="Arial"/>
                <a:cs typeface="Arial"/>
              </a:rPr>
              <a:t>journey gets harder</a:t>
            </a:r>
          </a:p>
        </p:txBody>
      </p:sp>
      <p:pic>
        <p:nvPicPr>
          <p:cNvPr id="10" name="">
            <a:extLst xmlns:a="http://schemas.openxmlformats.org/drawingml/2006/main">
              <a:ext uri="{FF2B5EF4-FFF2-40B4-BE49-F238E27FC236}">
                <a16:creationId xmlns:a16="http://schemas.microsoft.com/office/drawing/2014/main" id="{38197405-D6DB-4001-ACAF-071966E1260C}"/>
              </a:ext>
            </a:extLst>
          </p:cNvPr>
          <p:cNvPicPr>
            <a:picLocks xmlns:a="http://schemas.openxmlformats.org/drawingml/2006/main" noChangeAspect="1"/>
          </p:cNvPicPr>
          <p:nvPr/>
        </p:nvPicPr>
        <p:blipFill>
          <a:blip xmlns:r="http://schemas.openxmlformats.org/officeDocument/2006/relationships" xmlns:a="http://schemas.openxmlformats.org/drawingml/2006/main" r:embed="R683836b400a041ae"/>
          <a:srcRect xmlns:a="http://schemas.openxmlformats.org/drawingml/2006/main" l="18600" t="29000" r="2500" b="55000"/>
          <a:stretch xmlns:a="http://schemas.openxmlformats.org/drawingml/2006/main"/>
        </p:blipFill>
        <p:spPr>
          <a:xfrm xmlns:a="http://schemas.openxmlformats.org/drawingml/2006/main">
            <a:off x="2028825" y="3181350"/>
            <a:ext cx="9486900" cy="2924175"/>
          </a:xfrm>
          <a:prstGeom xmlns:a="http://schemas.openxmlformats.org/drawingml/2006/main" prst="roundRect">
            <a:avLst>
              <a:gd name="adj" fmla="val 4886"/>
            </a:avLst>
          </a:prstGeom>
        </p:spPr>
      </p:pic>
      <p:sp>
        <p:nvSpPr>
          <p:cNvPr id="11" name="Actual dashboard and real AI output from synthetic">
            <a:extLst xmlns:a="http://schemas.openxmlformats.org/drawingml/2006/main">
              <a:ext uri="{FF2B5EF4-FFF2-40B4-BE49-F238E27FC236}">
                <a16:creationId xmlns:a16="http://schemas.microsoft.com/office/drawing/2014/main" id="{C8719611-E936-4ECF-AF7D-D84D0692E053}"/>
              </a:ext>
            </a:extLst>
          </p:cNvPr>
          <p:cNvSpPr>
            <a:spLocks xmlns:a="http://schemas.openxmlformats.org/drawingml/2006/main" noGrp="1"/>
          </p:cNvSpPr>
          <p:nvPr/>
        </p:nvSpPr>
        <p:spPr>
          <a:xfrm xmlns:a="http://schemas.openxmlformats.org/drawingml/2006/main">
            <a:off x="2028825" y="6229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343D42"/>
                </a:solidFill>
                <a:latin typeface="Arial"/>
                <a:ea typeface="Arial"/>
                <a:cs typeface="Arial"/>
              </a:defRPr>
            </a:defPPr>
          </a:lstStyle>
          <a:p xmlns:a="http://schemas.openxmlformats.org/drawingml/2006/main">
            <a:pPr>
              <a:defRPr sz="1050" b="0" i="0">
                <a:solidFill>
                  <a:srgbClr val="343D42"/>
                </a:solidFill>
                <a:latin typeface="Arial"/>
                <a:ea typeface="Arial"/>
                <a:cs typeface="Arial"/>
              </a:defRPr>
            </a:pPr>
            <a:r>
              <a:rPr sz="1050" b="0" i="0">
                <a:solidFill>
                  <a:srgbClr val="343D42"/>
                </a:solidFill>
                <a:latin typeface="Arial"/>
                <a:ea typeface="Arial"/>
                <a:cs typeface="Arial"/>
              </a:rPr>
              <a:t>Actual dashboard and real AI output from synthetic rehearsal events. Hypotheses require a controlled experiment.</a:t>
            </a:r>
          </a:p>
        </p:txBody>
      </p:sp>
    </p:spTree>
    <p:extLst>
      <p:ext uri="{BB962C8B-B14F-4D97-AF65-F5344CB8AC3E}">
        <p14:creationId xmlns:p14="http://schemas.microsoft.com/office/powerpoint/2010/main" val="148300123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25A4AE72-1753-4CD3-92A5-4AF78CB9A2CE}"/>
              </a:ext>
            </a:extLst>
          </p:cNvPr>
          <p:cNvPicPr>
            <a:picLocks xmlns:a="http://schemas.openxmlformats.org/drawingml/2006/main" noChangeAspect="1"/>
          </p:cNvPicPr>
          <p:nvPr/>
        </p:nvPicPr>
        <p:blipFill>
          <a:blip xmlns:r="http://schemas.openxmlformats.org/officeDocument/2006/relationships" xmlns:a="http://schemas.openxmlformats.org/drawingml/2006/main" r:embed="R50d32932c55b42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ripFit">
            <a:extLst xmlns:a="http://schemas.openxmlformats.org/drawingml/2006/main">
              <a:ext uri="{FF2B5EF4-FFF2-40B4-BE49-F238E27FC236}">
                <a16:creationId xmlns:a16="http://schemas.microsoft.com/office/drawing/2014/main" id="{B96AF93E-75C5-465A-B89E-58692DC02415}"/>
              </a:ext>
            </a:extLst>
          </p:cNvPr>
          <p:cNvSpPr>
            <a:spLocks xmlns:a="http://schemas.openxmlformats.org/drawingml/2006/main" noGrp="1"/>
          </p:cNvSpPr>
          <p:nvPr/>
        </p:nvSpPr>
        <p:spPr>
          <a:xfrm xmlns:a="http://schemas.openxmlformats.org/drawingml/2006/main">
            <a:off x="381000" y="371475"/>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i="0">
                <a:solidFill>
                  <a:srgbClr val="0C1112"/>
                </a:solidFill>
                <a:latin typeface="Arial"/>
                <a:ea typeface="Arial"/>
                <a:cs typeface="Arial"/>
              </a:defRPr>
            </a:defPPr>
          </a:lstStyle>
          <a:p xmlns:a="http://schemas.openxmlformats.org/drawingml/2006/main">
            <a:pPr>
              <a:defRPr sz="1650" b="1" i="0">
                <a:solidFill>
                  <a:srgbClr val="0C1112"/>
                </a:solidFill>
                <a:latin typeface="Arial"/>
                <a:ea typeface="Arial"/>
                <a:cs typeface="Arial"/>
              </a:defRPr>
            </a:pPr>
            <a:r>
              <a:rPr sz="1650" b="1" i="0">
                <a:solidFill>
                  <a:srgbClr val="0C1112"/>
                </a:solidFill>
                <a:latin typeface="Arial"/>
                <a:ea typeface="Arial"/>
                <a:cs typeface="Arial"/>
              </a:rPr>
              <a:t>TripFit</a:t>
            </a:r>
          </a:p>
        </p:txBody>
      </p:sp>
      <p:sp>
        <p:nvSpPr>
          <p:cNvPr id="3" name="PEGASUS&#10;HACKATHON">
            <a:extLst xmlns:a="http://schemas.openxmlformats.org/drawingml/2006/main">
              <a:ext uri="{FF2B5EF4-FFF2-40B4-BE49-F238E27FC236}">
                <a16:creationId xmlns:a16="http://schemas.microsoft.com/office/drawing/2014/main" id="{341F745D-7D8F-4991-934D-22701228342E}"/>
              </a:ext>
            </a:extLst>
          </p:cNvPr>
          <p:cNvSpPr>
            <a:spLocks xmlns:a="http://schemas.openxmlformats.org/drawingml/2006/main" noGrp="1"/>
          </p:cNvSpPr>
          <p:nvPr/>
        </p:nvSpPr>
        <p:spPr>
          <a:xfrm xmlns:a="http://schemas.openxmlformats.org/drawingml/2006/main">
            <a:off x="2028825" y="352425"/>
            <a:ext cx="6191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PEGASUS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HACKATHON</a:t>
            </a:r>
          </a:p>
        </p:txBody>
      </p:sp>
      <p:sp>
        <p:nvSpPr>
          <p:cNvPr id="4" name="Value and technical proof">
            <a:extLst xmlns:a="http://schemas.openxmlformats.org/drawingml/2006/main">
              <a:ext uri="{FF2B5EF4-FFF2-40B4-BE49-F238E27FC236}">
                <a16:creationId xmlns:a16="http://schemas.microsoft.com/office/drawing/2014/main" id="{91451E6A-6543-4366-ADD1-66F271009E47}"/>
              </a:ext>
            </a:extLst>
          </p:cNvPr>
          <p:cNvSpPr>
            <a:spLocks xmlns:a="http://schemas.openxmlformats.org/drawingml/2006/main" noGrp="1"/>
          </p:cNvSpPr>
          <p:nvPr/>
        </p:nvSpPr>
        <p:spPr>
          <a:xfrm xmlns:a="http://schemas.openxmlformats.org/drawingml/2006/main">
            <a:off x="8667750" y="457200"/>
            <a:ext cx="3133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343D42"/>
                </a:solidFill>
                <a:latin typeface="Arial"/>
                <a:ea typeface="Arial"/>
                <a:cs typeface="Arial"/>
              </a:defRPr>
            </a:defPPr>
          </a:lstStyle>
          <a:p xmlns:a="http://schemas.openxmlformats.org/drawingml/2006/main">
            <a:pPr>
              <a:defRPr sz="1350" b="0" i="0">
                <a:solidFill>
                  <a:srgbClr val="343D42"/>
                </a:solidFill>
                <a:latin typeface="Arial"/>
                <a:ea typeface="Arial"/>
                <a:cs typeface="Arial"/>
              </a:defRPr>
            </a:pPr>
            <a:r>
              <a:rPr sz="1350" b="0" i="0">
                <a:solidFill>
                  <a:srgbClr val="343D42"/>
                </a:solidFill>
                <a:latin typeface="Arial"/>
                <a:ea typeface="Arial"/>
                <a:cs typeface="Arial"/>
              </a:rPr>
              <a:t>Value and technical proof</a:t>
            </a:r>
          </a:p>
        </p:txBody>
      </p:sp>
      <p:sp>
        <p:nvSpPr>
          <p:cNvPr id="5" name="Editorial divider">
            <a:extLst xmlns:a="http://schemas.openxmlformats.org/drawingml/2006/main">
              <a:ext uri="{FF2B5EF4-FFF2-40B4-BE49-F238E27FC236}">
                <a16:creationId xmlns:a16="http://schemas.microsoft.com/office/drawing/2014/main" id="{3E40AEB3-95CA-444B-B386-22893D665B70}"/>
              </a:ext>
            </a:extLst>
          </p:cNvPr>
          <p:cNvSpPr>
            <a:spLocks xmlns:a="http://schemas.openxmlformats.org/drawingml/2006/main" noGrp="1"/>
          </p:cNvSpPr>
          <p:nvPr/>
        </p:nvSpPr>
        <p:spPr>
          <a:xfrm xmlns:a="http://schemas.openxmlformats.org/drawingml/2006/main">
            <a:off x="371475" y="1257300"/>
            <a:ext cx="11439525" cy="9525"/>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6" name="Editorial divider">
            <a:extLst xmlns:a="http://schemas.openxmlformats.org/drawingml/2006/main">
              <a:ext uri="{FF2B5EF4-FFF2-40B4-BE49-F238E27FC236}">
                <a16:creationId xmlns:a16="http://schemas.microsoft.com/office/drawing/2014/main" id="{35619841-B558-4E8E-9E83-DB149FC95E4D}"/>
              </a:ext>
            </a:extLst>
          </p:cNvPr>
          <p:cNvSpPr>
            <a:spLocks xmlns:a="http://schemas.openxmlformats.org/drawingml/2006/main" noGrp="1"/>
          </p:cNvSpPr>
          <p:nvPr/>
        </p:nvSpPr>
        <p:spPr>
          <a:xfrm xmlns:a="http://schemas.openxmlformats.org/drawingml/2006/main">
            <a:off x="1704975" y="361950"/>
            <a:ext cx="9525" cy="6134100"/>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7" name="09">
            <a:extLst xmlns:a="http://schemas.openxmlformats.org/drawingml/2006/main">
              <a:ext uri="{FF2B5EF4-FFF2-40B4-BE49-F238E27FC236}">
                <a16:creationId xmlns:a16="http://schemas.microsoft.com/office/drawing/2014/main" id="{A47A2FB5-15C9-47F6-901D-A45D8893B6A8}"/>
              </a:ext>
            </a:extLst>
          </p:cNvPr>
          <p:cNvSpPr>
            <a:spLocks xmlns:a="http://schemas.openxmlformats.org/drawingml/2006/main" noGrp="1"/>
          </p:cNvSpPr>
          <p:nvPr/>
        </p:nvSpPr>
        <p:spPr>
          <a:xfrm xmlns:a="http://schemas.openxmlformats.org/drawingml/2006/main">
            <a:off x="390525" y="15811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i="0">
                <a:solidFill>
                  <a:srgbClr val="0C1112"/>
                </a:solidFill>
                <a:latin typeface="Arial"/>
                <a:ea typeface="Arial"/>
                <a:cs typeface="Arial"/>
              </a:defRPr>
            </a:defPPr>
          </a:lstStyle>
          <a:p xmlns:a="http://schemas.openxmlformats.org/drawingml/2006/main">
            <a:pPr>
              <a:defRPr sz="1725" b="1" i="0">
                <a:solidFill>
                  <a:srgbClr val="0C1112"/>
                </a:solidFill>
                <a:latin typeface="Arial"/>
                <a:ea typeface="Arial"/>
                <a:cs typeface="Arial"/>
              </a:defRPr>
            </a:pPr>
            <a:r>
              <a:rPr sz="1725" b="1" i="0">
                <a:solidFill>
                  <a:srgbClr val="0C1112"/>
                </a:solidFill>
                <a:latin typeface="Arial"/>
                <a:ea typeface="Arial"/>
                <a:cs typeface="Arial"/>
              </a:rPr>
              <a:t>09</a:t>
            </a:r>
          </a:p>
        </p:txBody>
      </p:sp>
      <p:sp>
        <p:nvSpPr>
          <p:cNvPr id="8" name="09 OCT 2026">
            <a:extLst xmlns:a="http://schemas.openxmlformats.org/drawingml/2006/main">
              <a:ext uri="{FF2B5EF4-FFF2-40B4-BE49-F238E27FC236}">
                <a16:creationId xmlns:a16="http://schemas.microsoft.com/office/drawing/2014/main" id="{4FB41DF2-4EEA-413C-B313-5BA7FB0A1187}"/>
              </a:ext>
            </a:extLst>
          </p:cNvPr>
          <p:cNvSpPr>
            <a:spLocks xmlns:a="http://schemas.openxmlformats.org/drawingml/2006/main" noGrp="1"/>
          </p:cNvSpPr>
          <p:nvPr/>
        </p:nvSpPr>
        <p:spPr>
          <a:xfrm xmlns:a="http://schemas.openxmlformats.org/drawingml/2006/main">
            <a:off x="381000" y="614362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i="0">
                <a:solidFill>
                  <a:srgbClr val="343D42"/>
                </a:solidFill>
                <a:latin typeface="Arial"/>
                <a:ea typeface="Arial"/>
                <a:cs typeface="Arial"/>
              </a:defRPr>
            </a:defPPr>
          </a:lstStyle>
          <a:p xmlns:a="http://schemas.openxmlformats.org/drawingml/2006/main">
            <a:pPr>
              <a:defRPr sz="975" b="0" i="0">
                <a:solidFill>
                  <a:srgbClr val="343D42"/>
                </a:solidFill>
                <a:latin typeface="Arial"/>
                <a:ea typeface="Arial"/>
                <a:cs typeface="Arial"/>
              </a:defRPr>
            </a:pPr>
            <a:r>
              <a:rPr sz="975" b="0" i="0">
                <a:solidFill>
                  <a:srgbClr val="343D42"/>
                </a:solidFill>
                <a:latin typeface="Arial"/>
                <a:ea typeface="Arial"/>
                <a:cs typeface="Arial"/>
              </a:rPr>
              <a:t>09 OCT 2026</a:t>
            </a:r>
          </a:p>
        </p:txBody>
      </p:sp>
      <p:sp>
        <p:nvSpPr>
          <p:cNvPr id="9" name="Built for the Pegasus model">
            <a:extLst xmlns:a="http://schemas.openxmlformats.org/drawingml/2006/main">
              <a:ext uri="{FF2B5EF4-FFF2-40B4-BE49-F238E27FC236}">
                <a16:creationId xmlns:a16="http://schemas.microsoft.com/office/drawing/2014/main" id="{0194589A-D5D1-49C5-9F4D-C03FB8C97BFE}"/>
              </a:ext>
            </a:extLst>
          </p:cNvPr>
          <p:cNvSpPr>
            <a:spLocks xmlns:a="http://schemas.openxmlformats.org/drawingml/2006/main" noGrp="1"/>
          </p:cNvSpPr>
          <p:nvPr/>
        </p:nvSpPr>
        <p:spPr>
          <a:xfrm xmlns:a="http://schemas.openxmlformats.org/drawingml/2006/main">
            <a:off x="2019300" y="1571625"/>
            <a:ext cx="95345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i="0">
                <a:solidFill>
                  <a:srgbClr val="0C1112"/>
                </a:solidFill>
                <a:latin typeface="Arial"/>
                <a:ea typeface="Arial"/>
                <a:cs typeface="Arial"/>
              </a:defRPr>
            </a:defPPr>
          </a:lstStyle>
          <a:p xmlns:a="http://schemas.openxmlformats.org/drawingml/2006/main">
            <a:pPr>
              <a:defRPr sz="3825" b="1" i="0">
                <a:solidFill>
                  <a:srgbClr val="0C1112"/>
                </a:solidFill>
                <a:latin typeface="Arial"/>
                <a:ea typeface="Arial"/>
                <a:cs typeface="Arial"/>
              </a:defRPr>
            </a:pPr>
            <a:r>
              <a:rPr sz="3825" b="1" i="0">
                <a:solidFill>
                  <a:srgbClr val="0C1112"/>
                </a:solidFill>
                <a:latin typeface="Arial"/>
                <a:ea typeface="Arial"/>
                <a:cs typeface="Arial"/>
              </a:rPr>
              <a:t>Built for the Pegasus model</a:t>
            </a:r>
          </a:p>
        </p:txBody>
      </p:sp>
      <p:sp>
        <p:nvSpPr>
          <p:cNvPr id="10" name="Easier booking">
            <a:extLst xmlns:a="http://schemas.openxmlformats.org/drawingml/2006/main">
              <a:ext uri="{FF2B5EF4-FFF2-40B4-BE49-F238E27FC236}">
                <a16:creationId xmlns:a16="http://schemas.microsoft.com/office/drawing/2014/main" id="{0FFE1C28-88D4-428A-91CD-366F1156FBD4}"/>
              </a:ext>
            </a:extLst>
          </p:cNvPr>
          <p:cNvSpPr>
            <a:spLocks xmlns:a="http://schemas.openxmlformats.org/drawingml/2006/main" noGrp="1"/>
          </p:cNvSpPr>
          <p:nvPr/>
        </p:nvSpPr>
        <p:spPr>
          <a:xfrm xmlns:a="http://schemas.openxmlformats.org/drawingml/2006/main">
            <a:off x="2038350" y="277177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i="0">
                <a:solidFill>
                  <a:srgbClr val="0C1112"/>
                </a:solidFill>
                <a:latin typeface="Arial"/>
                <a:ea typeface="Arial"/>
                <a:cs typeface="Arial"/>
              </a:defRPr>
            </a:defPPr>
          </a:lstStyle>
          <a:p xmlns:a="http://schemas.openxmlformats.org/drawingml/2006/main">
            <a:pPr>
              <a:defRPr sz="2250" b="1" i="0">
                <a:solidFill>
                  <a:srgbClr val="0C1112"/>
                </a:solidFill>
                <a:latin typeface="Arial"/>
                <a:ea typeface="Arial"/>
                <a:cs typeface="Arial"/>
              </a:defRPr>
            </a:pPr>
            <a:r>
              <a:rPr sz="2250" b="1" i="0">
                <a:solidFill>
                  <a:srgbClr val="0C1112"/>
                </a:solidFill>
                <a:latin typeface="Arial"/>
                <a:ea typeface="Arial"/>
                <a:cs typeface="Arial"/>
              </a:rPr>
              <a:t>Easier booking</a:t>
            </a:r>
          </a:p>
        </p:txBody>
      </p:sp>
      <p:sp>
        <p:nvSpPr>
          <p:cNvPr id="11" name="Completion and repeated input">
            <a:extLst xmlns:a="http://schemas.openxmlformats.org/drawingml/2006/main">
              <a:ext uri="{FF2B5EF4-FFF2-40B4-BE49-F238E27FC236}">
                <a16:creationId xmlns:a16="http://schemas.microsoft.com/office/drawing/2014/main" id="{8824DF48-D6AB-433A-8FD8-2AFC292F4998}"/>
              </a:ext>
            </a:extLst>
          </p:cNvPr>
          <p:cNvSpPr>
            <a:spLocks xmlns:a="http://schemas.openxmlformats.org/drawingml/2006/main" noGrp="1"/>
          </p:cNvSpPr>
          <p:nvPr/>
        </p:nvSpPr>
        <p:spPr>
          <a:xfrm xmlns:a="http://schemas.openxmlformats.org/drawingml/2006/main">
            <a:off x="2038350" y="3333750"/>
            <a:ext cx="29813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0C1112"/>
                </a:solidFill>
                <a:latin typeface="Arial"/>
                <a:ea typeface="Arial"/>
                <a:cs typeface="Arial"/>
              </a:defRPr>
            </a:defPPr>
          </a:lstStyle>
          <a:p xmlns:a="http://schemas.openxmlformats.org/drawingml/2006/main">
            <a:pPr>
              <a:defRPr sz="1725" b="0" i="0">
                <a:solidFill>
                  <a:srgbClr val="0C1112"/>
                </a:solidFill>
                <a:latin typeface="Arial"/>
                <a:ea typeface="Arial"/>
                <a:cs typeface="Arial"/>
              </a:defRPr>
            </a:pPr>
            <a:r>
              <a:rPr sz="1725" b="0" i="0">
                <a:solidFill>
                  <a:srgbClr val="0C1112"/>
                </a:solidFill>
                <a:latin typeface="Arial"/>
                <a:ea typeface="Arial"/>
                <a:cs typeface="Arial"/>
              </a:rPr>
              <a:t>Completion and repeated input</a:t>
            </a:r>
          </a:p>
        </p:txBody>
      </p:sp>
      <p:sp>
        <p:nvSpPr>
          <p:cNvPr id="12" name="Relevant extras">
            <a:extLst xmlns:a="http://schemas.openxmlformats.org/drawingml/2006/main">
              <a:ext uri="{FF2B5EF4-FFF2-40B4-BE49-F238E27FC236}">
                <a16:creationId xmlns:a16="http://schemas.microsoft.com/office/drawing/2014/main" id="{FDF01E0C-D3B6-4AF8-B5BC-70ECA6B5486C}"/>
              </a:ext>
            </a:extLst>
          </p:cNvPr>
          <p:cNvSpPr>
            <a:spLocks xmlns:a="http://schemas.openxmlformats.org/drawingml/2006/main" noGrp="1"/>
          </p:cNvSpPr>
          <p:nvPr/>
        </p:nvSpPr>
        <p:spPr>
          <a:xfrm xmlns:a="http://schemas.openxmlformats.org/drawingml/2006/main">
            <a:off x="5305425" y="2771775"/>
            <a:ext cx="2943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i="0">
                <a:solidFill>
                  <a:srgbClr val="0C1112"/>
                </a:solidFill>
                <a:latin typeface="Arial"/>
                <a:ea typeface="Arial"/>
                <a:cs typeface="Arial"/>
              </a:defRPr>
            </a:defPPr>
          </a:lstStyle>
          <a:p xmlns:a="http://schemas.openxmlformats.org/drawingml/2006/main">
            <a:pPr>
              <a:defRPr sz="2250" b="1" i="0">
                <a:solidFill>
                  <a:srgbClr val="0C1112"/>
                </a:solidFill>
                <a:latin typeface="Arial"/>
                <a:ea typeface="Arial"/>
                <a:cs typeface="Arial"/>
              </a:defRPr>
            </a:pPr>
            <a:r>
              <a:rPr sz="2250" b="1" i="0">
                <a:solidFill>
                  <a:srgbClr val="0C1112"/>
                </a:solidFill>
                <a:latin typeface="Arial"/>
                <a:ea typeface="Arial"/>
                <a:cs typeface="Arial"/>
              </a:rPr>
              <a:t>Relevant extras</a:t>
            </a:r>
          </a:p>
        </p:txBody>
      </p:sp>
      <p:sp>
        <p:nvSpPr>
          <p:cNvPr id="13" name="Fit, acceptance and corrections">
            <a:extLst xmlns:a="http://schemas.openxmlformats.org/drawingml/2006/main">
              <a:ext uri="{FF2B5EF4-FFF2-40B4-BE49-F238E27FC236}">
                <a16:creationId xmlns:a16="http://schemas.microsoft.com/office/drawing/2014/main" id="{8DB965BC-C287-42B0-888A-A5EDA0933EB3}"/>
              </a:ext>
            </a:extLst>
          </p:cNvPr>
          <p:cNvSpPr>
            <a:spLocks xmlns:a="http://schemas.openxmlformats.org/drawingml/2006/main" noGrp="1"/>
          </p:cNvSpPr>
          <p:nvPr/>
        </p:nvSpPr>
        <p:spPr>
          <a:xfrm xmlns:a="http://schemas.openxmlformats.org/drawingml/2006/main">
            <a:off x="5305425" y="333375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0C1112"/>
                </a:solidFill>
                <a:latin typeface="Arial"/>
                <a:ea typeface="Arial"/>
                <a:cs typeface="Arial"/>
              </a:defRPr>
            </a:defPPr>
          </a:lstStyle>
          <a:p xmlns:a="http://schemas.openxmlformats.org/drawingml/2006/main">
            <a:pPr>
              <a:defRPr sz="1725" b="0" i="0">
                <a:solidFill>
                  <a:srgbClr val="0C1112"/>
                </a:solidFill>
                <a:latin typeface="Arial"/>
                <a:ea typeface="Arial"/>
                <a:cs typeface="Arial"/>
              </a:defRPr>
            </a:pPr>
            <a:r>
              <a:rPr sz="1725" b="0" i="0">
                <a:solidFill>
                  <a:srgbClr val="0C1112"/>
                </a:solidFill>
                <a:latin typeface="Arial"/>
                <a:ea typeface="Arial"/>
                <a:cs typeface="Arial"/>
              </a:rPr>
              <a:t>Fit, acceptance and corrections</a:t>
            </a:r>
          </a:p>
        </p:txBody>
      </p:sp>
      <p:sp>
        <p:nvSpPr>
          <p:cNvPr id="14" name="Customer trust">
            <a:extLst xmlns:a="http://schemas.openxmlformats.org/drawingml/2006/main">
              <a:ext uri="{FF2B5EF4-FFF2-40B4-BE49-F238E27FC236}">
                <a16:creationId xmlns:a16="http://schemas.microsoft.com/office/drawing/2014/main" id="{06AFCC1F-5C83-4FED-9478-64CF8A54B730}"/>
              </a:ext>
            </a:extLst>
          </p:cNvPr>
          <p:cNvSpPr>
            <a:spLocks xmlns:a="http://schemas.openxmlformats.org/drawingml/2006/main" noGrp="1"/>
          </p:cNvSpPr>
          <p:nvPr/>
        </p:nvSpPr>
        <p:spPr>
          <a:xfrm xmlns:a="http://schemas.openxmlformats.org/drawingml/2006/main">
            <a:off x="8572500" y="277177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i="0">
                <a:solidFill>
                  <a:srgbClr val="0C1112"/>
                </a:solidFill>
                <a:latin typeface="Arial"/>
                <a:ea typeface="Arial"/>
                <a:cs typeface="Arial"/>
              </a:defRPr>
            </a:defPPr>
          </a:lstStyle>
          <a:p xmlns:a="http://schemas.openxmlformats.org/drawingml/2006/main">
            <a:pPr>
              <a:defRPr sz="2250" b="1" i="0">
                <a:solidFill>
                  <a:srgbClr val="0C1112"/>
                </a:solidFill>
                <a:latin typeface="Arial"/>
                <a:ea typeface="Arial"/>
                <a:cs typeface="Arial"/>
              </a:defRPr>
            </a:pPr>
            <a:r>
              <a:rPr sz="2250" b="1" i="0">
                <a:solidFill>
                  <a:srgbClr val="0C1112"/>
                </a:solidFill>
                <a:latin typeface="Arial"/>
                <a:ea typeface="Arial"/>
                <a:cs typeface="Arial"/>
              </a:rPr>
              <a:t>Customer trust</a:t>
            </a:r>
          </a:p>
        </p:txBody>
      </p:sp>
      <p:sp>
        <p:nvSpPr>
          <p:cNvPr id="15" name="Control, opt-outs and errors">
            <a:extLst xmlns:a="http://schemas.openxmlformats.org/drawingml/2006/main">
              <a:ext uri="{FF2B5EF4-FFF2-40B4-BE49-F238E27FC236}">
                <a16:creationId xmlns:a16="http://schemas.microsoft.com/office/drawing/2014/main" id="{BF218AC5-7EC8-4478-83BD-E9CD0CD929D4}"/>
              </a:ext>
            </a:extLst>
          </p:cNvPr>
          <p:cNvSpPr>
            <a:spLocks xmlns:a="http://schemas.openxmlformats.org/drawingml/2006/main" noGrp="1"/>
          </p:cNvSpPr>
          <p:nvPr/>
        </p:nvSpPr>
        <p:spPr>
          <a:xfrm xmlns:a="http://schemas.openxmlformats.org/drawingml/2006/main">
            <a:off x="8572500" y="3333750"/>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0C1112"/>
                </a:solidFill>
                <a:latin typeface="Arial"/>
                <a:ea typeface="Arial"/>
                <a:cs typeface="Arial"/>
              </a:defRPr>
            </a:defPPr>
          </a:lstStyle>
          <a:p xmlns:a="http://schemas.openxmlformats.org/drawingml/2006/main">
            <a:pPr>
              <a:defRPr sz="1725" b="0" i="0">
                <a:solidFill>
                  <a:srgbClr val="0C1112"/>
                </a:solidFill>
                <a:latin typeface="Arial"/>
                <a:ea typeface="Arial"/>
                <a:cs typeface="Arial"/>
              </a:defRPr>
            </a:pPr>
            <a:r>
              <a:rPr sz="1725" b="0" i="0">
                <a:solidFill>
                  <a:srgbClr val="0C1112"/>
                </a:solidFill>
                <a:latin typeface="Arial"/>
                <a:ea typeface="Arial"/>
                <a:cs typeface="Arial"/>
              </a:rPr>
              <a:t>Control, opt-outs and errors</a:t>
            </a:r>
          </a:p>
        </p:txBody>
      </p:sp>
      <p:pic>
        <p:nvPicPr>
          <p:cNvPr id="16" name="">
            <a:extLst xmlns:a="http://schemas.openxmlformats.org/drawingml/2006/main">
              <a:ext uri="{FF2B5EF4-FFF2-40B4-BE49-F238E27FC236}">
                <a16:creationId xmlns:a16="http://schemas.microsoft.com/office/drawing/2014/main" id="{8DB4EC98-2B0A-4294-9FA8-03C06B4F02E3}"/>
              </a:ext>
            </a:extLst>
          </p:cNvPr>
          <p:cNvPicPr>
            <a:picLocks xmlns:a="http://schemas.openxmlformats.org/drawingml/2006/main" noChangeAspect="1"/>
          </p:cNvPicPr>
          <p:nvPr/>
        </p:nvPicPr>
        <p:blipFill>
          <a:blip xmlns:r="http://schemas.openxmlformats.org/officeDocument/2006/relationships" xmlns:a="http://schemas.openxmlformats.org/drawingml/2006/main" r:embed="R098646167119485f"/>
          <a:srcRect xmlns:a="http://schemas.openxmlformats.org/drawingml/2006/main" l="18600" t="20800" r="2600" b="62800"/>
          <a:stretch xmlns:a="http://schemas.openxmlformats.org/drawingml/2006/main"/>
        </p:blipFill>
        <p:spPr>
          <a:xfrm xmlns:a="http://schemas.openxmlformats.org/drawingml/2006/main">
            <a:off x="2028825" y="4143375"/>
            <a:ext cx="9486900" cy="1809750"/>
          </a:xfrm>
          <a:prstGeom xmlns:a="http://schemas.openxmlformats.org/drawingml/2006/main" prst="roundRect">
            <a:avLst>
              <a:gd name="adj" fmla="val 7368"/>
            </a:avLst>
          </a:prstGeom>
        </p:spPr>
      </p:pic>
      <p:sp>
        <p:nvSpPr>
          <p:cNvPr id="17" name="80 backend tests / 58 booking checks / 26 profile ">
            <a:extLst xmlns:a="http://schemas.openxmlformats.org/drawingml/2006/main">
              <a:ext uri="{FF2B5EF4-FFF2-40B4-BE49-F238E27FC236}">
                <a16:creationId xmlns:a16="http://schemas.microsoft.com/office/drawing/2014/main" id="{6D2DDE13-B975-4B1B-985D-1357C8F1E101}"/>
              </a:ext>
            </a:extLst>
          </p:cNvPr>
          <p:cNvSpPr>
            <a:spLocks xmlns:a="http://schemas.openxmlformats.org/drawingml/2006/main" noGrp="1"/>
          </p:cNvSpPr>
          <p:nvPr/>
        </p:nvSpPr>
        <p:spPr>
          <a:xfrm xmlns:a="http://schemas.openxmlformats.org/drawingml/2006/main">
            <a:off x="2028825" y="6229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343D42"/>
                </a:solidFill>
                <a:latin typeface="Arial"/>
                <a:ea typeface="Arial"/>
                <a:cs typeface="Arial"/>
              </a:defRPr>
            </a:defPPr>
          </a:lstStyle>
          <a:p xmlns:a="http://schemas.openxmlformats.org/drawingml/2006/main">
            <a:pPr>
              <a:defRPr sz="1050" b="0" i="0">
                <a:solidFill>
                  <a:srgbClr val="343D42"/>
                </a:solidFill>
                <a:latin typeface="Arial"/>
                <a:ea typeface="Arial"/>
                <a:cs typeface="Arial"/>
              </a:defRPr>
            </a:pPr>
            <a:r>
              <a:rPr sz="1050" b="0" i="0">
                <a:solidFill>
                  <a:srgbClr val="343D42"/>
                </a:solidFill>
                <a:latin typeface="Arial"/>
                <a:ea typeface="Arial"/>
                <a:cs typeface="Arial"/>
              </a:rPr>
              <a:t>80 backend tests / 58 booking checks / 26 profile checks. Screenshot metrics are synthetic; business gains remain pilot hypotheses.</a:t>
            </a:r>
          </a:p>
        </p:txBody>
      </p:sp>
    </p:spTree>
    <p:extLst>
      <p:ext uri="{BB962C8B-B14F-4D97-AF65-F5344CB8AC3E}">
        <p14:creationId xmlns:p14="http://schemas.microsoft.com/office/powerpoint/2010/main" val="106166703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8010817B-5220-46D1-B2E9-264401A768D0}"/>
              </a:ext>
            </a:extLst>
          </p:cNvPr>
          <p:cNvPicPr>
            <a:picLocks xmlns:a="http://schemas.openxmlformats.org/drawingml/2006/main" noChangeAspect="1"/>
          </p:cNvPicPr>
          <p:nvPr/>
        </p:nvPicPr>
        <p:blipFill>
          <a:blip xmlns:r="http://schemas.openxmlformats.org/officeDocument/2006/relationships" xmlns:a="http://schemas.openxmlformats.org/drawingml/2006/main" r:embed="Rf003406b053f4b9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ripFit">
            <a:extLst xmlns:a="http://schemas.openxmlformats.org/drawingml/2006/main">
              <a:ext uri="{FF2B5EF4-FFF2-40B4-BE49-F238E27FC236}">
                <a16:creationId xmlns:a16="http://schemas.microsoft.com/office/drawing/2014/main" id="{6FD1705B-726E-4C73-A385-F7462BAE0DCC}"/>
              </a:ext>
            </a:extLst>
          </p:cNvPr>
          <p:cNvSpPr>
            <a:spLocks xmlns:a="http://schemas.openxmlformats.org/drawingml/2006/main" noGrp="1"/>
          </p:cNvSpPr>
          <p:nvPr/>
        </p:nvSpPr>
        <p:spPr>
          <a:xfrm xmlns:a="http://schemas.openxmlformats.org/drawingml/2006/main">
            <a:off x="381000" y="371475"/>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i="0">
                <a:solidFill>
                  <a:srgbClr val="0C1112"/>
                </a:solidFill>
                <a:latin typeface="Arial"/>
                <a:ea typeface="Arial"/>
                <a:cs typeface="Arial"/>
              </a:defRPr>
            </a:defPPr>
          </a:lstStyle>
          <a:p xmlns:a="http://schemas.openxmlformats.org/drawingml/2006/main">
            <a:pPr>
              <a:defRPr sz="1650" b="1" i="0">
                <a:solidFill>
                  <a:srgbClr val="0C1112"/>
                </a:solidFill>
                <a:latin typeface="Arial"/>
                <a:ea typeface="Arial"/>
                <a:cs typeface="Arial"/>
              </a:defRPr>
            </a:pPr>
            <a:r>
              <a:rPr sz="1650" b="1" i="0">
                <a:solidFill>
                  <a:srgbClr val="0C1112"/>
                </a:solidFill>
                <a:latin typeface="Arial"/>
                <a:ea typeface="Arial"/>
                <a:cs typeface="Arial"/>
              </a:rPr>
              <a:t>TripFit</a:t>
            </a:r>
          </a:p>
        </p:txBody>
      </p:sp>
      <p:sp>
        <p:nvSpPr>
          <p:cNvPr id="3" name="PEGASUS&#10;HACKATHON">
            <a:extLst xmlns:a="http://schemas.openxmlformats.org/drawingml/2006/main">
              <a:ext uri="{FF2B5EF4-FFF2-40B4-BE49-F238E27FC236}">
                <a16:creationId xmlns:a16="http://schemas.microsoft.com/office/drawing/2014/main" id="{AB41725E-8DEE-4FCC-837B-95FDDA66D5B9}"/>
              </a:ext>
            </a:extLst>
          </p:cNvPr>
          <p:cNvSpPr>
            <a:spLocks xmlns:a="http://schemas.openxmlformats.org/drawingml/2006/main" noGrp="1"/>
          </p:cNvSpPr>
          <p:nvPr/>
        </p:nvSpPr>
        <p:spPr>
          <a:xfrm xmlns:a="http://schemas.openxmlformats.org/drawingml/2006/main">
            <a:off x="2028825" y="352425"/>
            <a:ext cx="6191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0C1112"/>
                </a:solidFill>
                <a:latin typeface="Arial"/>
                <a:ea typeface="Arial"/>
                <a:cs typeface="Arial"/>
              </a:defRPr>
            </a:defPPr>
          </a:lstStyle>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PEGASUS</a:t>
            </a:r>
          </a:p>
          <a:p xmlns:a="http://schemas.openxmlformats.org/drawingml/2006/main">
            <a:pPr>
              <a:defRPr sz="1875" b="0" i="0">
                <a:solidFill>
                  <a:srgbClr val="0C1112"/>
                </a:solidFill>
                <a:latin typeface="Arial"/>
                <a:ea typeface="Arial"/>
                <a:cs typeface="Arial"/>
              </a:defRPr>
            </a:pPr>
            <a:r>
              <a:rPr sz="1875" b="0" i="0">
                <a:solidFill>
                  <a:srgbClr val="0C1112"/>
                </a:solidFill>
                <a:latin typeface="Arial"/>
                <a:ea typeface="Arial"/>
                <a:cs typeface="Arial"/>
              </a:rPr>
              <a:t>HACKATHON</a:t>
            </a:r>
          </a:p>
        </p:txBody>
      </p:sp>
      <p:sp>
        <p:nvSpPr>
          <p:cNvPr id="4" name="The next step">
            <a:extLst xmlns:a="http://schemas.openxmlformats.org/drawingml/2006/main">
              <a:ext uri="{FF2B5EF4-FFF2-40B4-BE49-F238E27FC236}">
                <a16:creationId xmlns:a16="http://schemas.microsoft.com/office/drawing/2014/main" id="{A2F1958F-F7D5-4F41-A5BF-D4854108D849}"/>
              </a:ext>
            </a:extLst>
          </p:cNvPr>
          <p:cNvSpPr>
            <a:spLocks xmlns:a="http://schemas.openxmlformats.org/drawingml/2006/main" noGrp="1"/>
          </p:cNvSpPr>
          <p:nvPr/>
        </p:nvSpPr>
        <p:spPr>
          <a:xfrm xmlns:a="http://schemas.openxmlformats.org/drawingml/2006/main">
            <a:off x="8667750" y="457200"/>
            <a:ext cx="3133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343D42"/>
                </a:solidFill>
                <a:latin typeface="Arial"/>
                <a:ea typeface="Arial"/>
                <a:cs typeface="Arial"/>
              </a:defRPr>
            </a:defPPr>
          </a:lstStyle>
          <a:p xmlns:a="http://schemas.openxmlformats.org/drawingml/2006/main">
            <a:pPr>
              <a:defRPr sz="1350" b="0" i="0">
                <a:solidFill>
                  <a:srgbClr val="343D42"/>
                </a:solidFill>
                <a:latin typeface="Arial"/>
                <a:ea typeface="Arial"/>
                <a:cs typeface="Arial"/>
              </a:defRPr>
            </a:pPr>
            <a:r>
              <a:rPr sz="1350" b="0" i="0">
                <a:solidFill>
                  <a:srgbClr val="343D42"/>
                </a:solidFill>
                <a:latin typeface="Arial"/>
                <a:ea typeface="Arial"/>
                <a:cs typeface="Arial"/>
              </a:rPr>
              <a:t>The next step</a:t>
            </a:r>
          </a:p>
        </p:txBody>
      </p:sp>
      <p:sp>
        <p:nvSpPr>
          <p:cNvPr id="5" name="Editorial divider">
            <a:extLst xmlns:a="http://schemas.openxmlformats.org/drawingml/2006/main">
              <a:ext uri="{FF2B5EF4-FFF2-40B4-BE49-F238E27FC236}">
                <a16:creationId xmlns:a16="http://schemas.microsoft.com/office/drawing/2014/main" id="{CC418909-2062-4A60-9CFC-3B4B83E3C52E}"/>
              </a:ext>
            </a:extLst>
          </p:cNvPr>
          <p:cNvSpPr>
            <a:spLocks xmlns:a="http://schemas.openxmlformats.org/drawingml/2006/main" noGrp="1"/>
          </p:cNvSpPr>
          <p:nvPr/>
        </p:nvSpPr>
        <p:spPr>
          <a:xfrm xmlns:a="http://schemas.openxmlformats.org/drawingml/2006/main">
            <a:off x="371475" y="1257300"/>
            <a:ext cx="11439525" cy="9525"/>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6" name="Editorial divider">
            <a:extLst xmlns:a="http://schemas.openxmlformats.org/drawingml/2006/main">
              <a:ext uri="{FF2B5EF4-FFF2-40B4-BE49-F238E27FC236}">
                <a16:creationId xmlns:a16="http://schemas.microsoft.com/office/drawing/2014/main" id="{A8CCEA75-4C30-4E2C-9573-79CBFA46B2B1}"/>
              </a:ext>
            </a:extLst>
          </p:cNvPr>
          <p:cNvSpPr>
            <a:spLocks xmlns:a="http://schemas.openxmlformats.org/drawingml/2006/main" noGrp="1"/>
          </p:cNvSpPr>
          <p:nvPr/>
        </p:nvSpPr>
        <p:spPr>
          <a:xfrm xmlns:a="http://schemas.openxmlformats.org/drawingml/2006/main">
            <a:off x="1704975" y="361950"/>
            <a:ext cx="9525" cy="6134100"/>
          </a:xfrm>
          <a:prstGeom xmlns:a="http://schemas.openxmlformats.org/drawingml/2006/main" prst="rect">
            <a:avLst/>
          </a:prstGeom>
          <a:solidFill xmlns:a="http://schemas.openxmlformats.org/drawingml/2006/main">
            <a:srgbClr val="0C1112"/>
          </a:solidFill>
          <a:ln xmlns:a="http://schemas.openxmlformats.org/drawingml/2006/main" w="0">
            <a:noFill/>
          </a:ln>
        </p:spPr>
      </p:sp>
      <p:sp>
        <p:nvSpPr>
          <p:cNvPr id="7" name="10">
            <a:extLst xmlns:a="http://schemas.openxmlformats.org/drawingml/2006/main">
              <a:ext uri="{FF2B5EF4-FFF2-40B4-BE49-F238E27FC236}">
                <a16:creationId xmlns:a16="http://schemas.microsoft.com/office/drawing/2014/main" id="{B4C57AE4-46B5-4CDC-8462-15651E0BB333}"/>
              </a:ext>
            </a:extLst>
          </p:cNvPr>
          <p:cNvSpPr>
            <a:spLocks xmlns:a="http://schemas.openxmlformats.org/drawingml/2006/main" noGrp="1"/>
          </p:cNvSpPr>
          <p:nvPr/>
        </p:nvSpPr>
        <p:spPr>
          <a:xfrm xmlns:a="http://schemas.openxmlformats.org/drawingml/2006/main">
            <a:off x="390525" y="15811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i="0">
                <a:solidFill>
                  <a:srgbClr val="0C1112"/>
                </a:solidFill>
                <a:latin typeface="Arial"/>
                <a:ea typeface="Arial"/>
                <a:cs typeface="Arial"/>
              </a:defRPr>
            </a:defPPr>
          </a:lstStyle>
          <a:p xmlns:a="http://schemas.openxmlformats.org/drawingml/2006/main">
            <a:pPr>
              <a:defRPr sz="1725" b="1" i="0">
                <a:solidFill>
                  <a:srgbClr val="0C1112"/>
                </a:solidFill>
                <a:latin typeface="Arial"/>
                <a:ea typeface="Arial"/>
                <a:cs typeface="Arial"/>
              </a:defRPr>
            </a:pPr>
            <a:r>
              <a:rPr sz="1725" b="1" i="0">
                <a:solidFill>
                  <a:srgbClr val="0C1112"/>
                </a:solidFill>
                <a:latin typeface="Arial"/>
                <a:ea typeface="Arial"/>
                <a:cs typeface="Arial"/>
              </a:rPr>
              <a:t>10</a:t>
            </a:r>
          </a:p>
        </p:txBody>
      </p:sp>
      <p:sp>
        <p:nvSpPr>
          <p:cNvPr id="8" name="09 OCT 2026">
            <a:extLst xmlns:a="http://schemas.openxmlformats.org/drawingml/2006/main">
              <a:ext uri="{FF2B5EF4-FFF2-40B4-BE49-F238E27FC236}">
                <a16:creationId xmlns:a16="http://schemas.microsoft.com/office/drawing/2014/main" id="{568CCCDB-23AA-4770-976A-F3F3B7C215D3}"/>
              </a:ext>
            </a:extLst>
          </p:cNvPr>
          <p:cNvSpPr>
            <a:spLocks xmlns:a="http://schemas.openxmlformats.org/drawingml/2006/main" noGrp="1"/>
          </p:cNvSpPr>
          <p:nvPr/>
        </p:nvSpPr>
        <p:spPr>
          <a:xfrm xmlns:a="http://schemas.openxmlformats.org/drawingml/2006/main">
            <a:off x="381000" y="614362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i="0">
                <a:solidFill>
                  <a:srgbClr val="343D42"/>
                </a:solidFill>
                <a:latin typeface="Arial"/>
                <a:ea typeface="Arial"/>
                <a:cs typeface="Arial"/>
              </a:defRPr>
            </a:defPPr>
          </a:lstStyle>
          <a:p xmlns:a="http://schemas.openxmlformats.org/drawingml/2006/main">
            <a:pPr>
              <a:defRPr sz="975" b="0" i="0">
                <a:solidFill>
                  <a:srgbClr val="343D42"/>
                </a:solidFill>
                <a:latin typeface="Arial"/>
                <a:ea typeface="Arial"/>
                <a:cs typeface="Arial"/>
              </a:defRPr>
            </a:pPr>
            <a:r>
              <a:rPr sz="975" b="0" i="0">
                <a:solidFill>
                  <a:srgbClr val="343D42"/>
                </a:solidFill>
                <a:latin typeface="Arial"/>
                <a:ea typeface="Arial"/>
                <a:cs typeface="Arial"/>
              </a:rPr>
              <a:t>09 OCT 2026</a:t>
            </a:r>
          </a:p>
        </p:txBody>
      </p:sp>
      <p:sp>
        <p:nvSpPr>
          <p:cNvPr id="9" name="A more personal&#10;Pegasus journey">
            <a:extLst xmlns:a="http://schemas.openxmlformats.org/drawingml/2006/main">
              <a:ext uri="{FF2B5EF4-FFF2-40B4-BE49-F238E27FC236}">
                <a16:creationId xmlns:a16="http://schemas.microsoft.com/office/drawing/2014/main" id="{89655EFD-88E1-4839-98C7-92CBF14494BF}"/>
              </a:ext>
            </a:extLst>
          </p:cNvPr>
          <p:cNvSpPr>
            <a:spLocks xmlns:a="http://schemas.openxmlformats.org/drawingml/2006/main" noGrp="1"/>
          </p:cNvSpPr>
          <p:nvPr/>
        </p:nvSpPr>
        <p:spPr>
          <a:xfrm xmlns:a="http://schemas.openxmlformats.org/drawingml/2006/main">
            <a:off x="2019300" y="1571625"/>
            <a:ext cx="6667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i="0">
                <a:solidFill>
                  <a:srgbClr val="0C1112"/>
                </a:solidFill>
                <a:latin typeface="Arial"/>
                <a:ea typeface="Arial"/>
                <a:cs typeface="Arial"/>
              </a:defRPr>
            </a:defPPr>
          </a:lstStyle>
          <a:p xmlns:a="http://schemas.openxmlformats.org/drawingml/2006/main">
            <a:pPr>
              <a:defRPr sz="4500" b="1" i="0">
                <a:solidFill>
                  <a:srgbClr val="0C1112"/>
                </a:solidFill>
                <a:latin typeface="Arial"/>
                <a:ea typeface="Arial"/>
                <a:cs typeface="Arial"/>
              </a:defRPr>
            </a:pPr>
            <a:r>
              <a:rPr sz="4500" b="1" i="0">
                <a:solidFill>
                  <a:srgbClr val="0C1112"/>
                </a:solidFill>
                <a:latin typeface="Arial"/>
                <a:ea typeface="Arial"/>
                <a:cs typeface="Arial"/>
              </a:rPr>
              <a:t>A more personal</a:t>
            </a:r>
          </a:p>
          <a:p xmlns:a="http://schemas.openxmlformats.org/drawingml/2006/main">
            <a:pPr>
              <a:defRPr sz="4500" b="1" i="0">
                <a:solidFill>
                  <a:srgbClr val="0C1112"/>
                </a:solidFill>
                <a:latin typeface="Arial"/>
                <a:ea typeface="Arial"/>
                <a:cs typeface="Arial"/>
              </a:defRPr>
            </a:pPr>
            <a:r>
              <a:rPr sz="4500" b="1" i="0">
                <a:solidFill>
                  <a:srgbClr val="0C1112"/>
                </a:solidFill>
                <a:latin typeface="Arial"/>
                <a:ea typeface="Arial"/>
                <a:cs typeface="Arial"/>
              </a:rPr>
              <a:t>Pegasus journey</a:t>
            </a:r>
          </a:p>
        </p:txBody>
      </p:sp>
      <p:sp>
        <p:nvSpPr>
          <p:cNvPr id="10" name="A controlled pilot">
            <a:extLst xmlns:a="http://schemas.openxmlformats.org/drawingml/2006/main">
              <a:ext uri="{FF2B5EF4-FFF2-40B4-BE49-F238E27FC236}">
                <a16:creationId xmlns:a16="http://schemas.microsoft.com/office/drawing/2014/main" id="{264E306A-1757-46AF-A6A3-796B8D8B0BF6}"/>
              </a:ext>
            </a:extLst>
          </p:cNvPr>
          <p:cNvSpPr>
            <a:spLocks xmlns:a="http://schemas.openxmlformats.org/drawingml/2006/main" noGrp="1"/>
          </p:cNvSpPr>
          <p:nvPr/>
        </p:nvSpPr>
        <p:spPr>
          <a:xfrm xmlns:a="http://schemas.openxmlformats.org/drawingml/2006/main">
            <a:off x="2038350" y="3343275"/>
            <a:ext cx="6924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i="0">
                <a:solidFill>
                  <a:srgbClr val="0C1112"/>
                </a:solidFill>
                <a:latin typeface="Arial"/>
                <a:ea typeface="Arial"/>
                <a:cs typeface="Arial"/>
              </a:defRPr>
            </a:defPPr>
          </a:lstStyle>
          <a:p xmlns:a="http://schemas.openxmlformats.org/drawingml/2006/main">
            <a:pPr>
              <a:defRPr sz="2550" b="1" i="0">
                <a:solidFill>
                  <a:srgbClr val="0C1112"/>
                </a:solidFill>
                <a:latin typeface="Arial"/>
                <a:ea typeface="Arial"/>
                <a:cs typeface="Arial"/>
              </a:defRPr>
            </a:pPr>
            <a:r>
              <a:rPr sz="2550" b="1" i="0">
                <a:solidFill>
                  <a:srgbClr val="0C1112"/>
                </a:solidFill>
                <a:latin typeface="Arial"/>
                <a:ea typeface="Arial"/>
                <a:cs typeface="Arial"/>
              </a:rPr>
              <a:t>A controlled pilot</a:t>
            </a:r>
          </a:p>
        </p:txBody>
      </p:sp>
      <p:sp>
        <p:nvSpPr>
          <p:cNvPr id="11" name="Start with one route cohort.&#10;Connect authorised bo">
            <a:extLst xmlns:a="http://schemas.openxmlformats.org/drawingml/2006/main">
              <a:ext uri="{FF2B5EF4-FFF2-40B4-BE49-F238E27FC236}">
                <a16:creationId xmlns:a16="http://schemas.microsoft.com/office/drawing/2014/main" id="{DD76FF4E-F286-4E2C-9C3D-4C2B3D97DC01}"/>
              </a:ext>
            </a:extLst>
          </p:cNvPr>
          <p:cNvSpPr>
            <a:spLocks xmlns:a="http://schemas.openxmlformats.org/drawingml/2006/main" noGrp="1"/>
          </p:cNvSpPr>
          <p:nvPr/>
        </p:nvSpPr>
        <p:spPr>
          <a:xfrm xmlns:a="http://schemas.openxmlformats.org/drawingml/2006/main">
            <a:off x="2038350" y="4038600"/>
            <a:ext cx="6953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i="0">
                <a:solidFill>
                  <a:srgbClr val="0C1112"/>
                </a:solidFill>
                <a:latin typeface="Arial"/>
                <a:ea typeface="Arial"/>
                <a:cs typeface="Arial"/>
              </a:defRPr>
            </a:defPPr>
          </a:lstStyle>
          <a:p xmlns:a="http://schemas.openxmlformats.org/drawingml/2006/main">
            <a:pPr>
              <a:defRPr sz="2175" b="0" i="0">
                <a:solidFill>
                  <a:srgbClr val="0C1112"/>
                </a:solidFill>
                <a:latin typeface="Arial"/>
                <a:ea typeface="Arial"/>
                <a:cs typeface="Arial"/>
              </a:defRPr>
            </a:pPr>
            <a:r>
              <a:rPr sz="2175" b="0" i="0">
                <a:solidFill>
                  <a:srgbClr val="0C1112"/>
                </a:solidFill>
                <a:latin typeface="Arial"/>
                <a:ea typeface="Arial"/>
                <a:cs typeface="Arial"/>
              </a:rPr>
              <a:t>Start with one route cohort.</a:t>
            </a:r>
          </a:p>
          <a:p xmlns:a="http://schemas.openxmlformats.org/drawingml/2006/main">
            <a:pPr>
              <a:defRPr sz="2175" b="0" i="0">
                <a:solidFill>
                  <a:srgbClr val="0C1112"/>
                </a:solidFill>
                <a:latin typeface="Arial"/>
                <a:ea typeface="Arial"/>
                <a:cs typeface="Arial"/>
              </a:defRPr>
            </a:pPr>
            <a:r>
              <a:rPr sz="2175" b="0" i="0">
                <a:solidFill>
                  <a:srgbClr val="0C1112"/>
                </a:solidFill>
                <a:latin typeface="Arial"/>
                <a:ea typeface="Arial"/>
                <a:cs typeface="Arial"/>
              </a:rPr>
              <a:t>Connect authorised booking services.</a:t>
            </a:r>
          </a:p>
          <a:p xmlns:a="http://schemas.openxmlformats.org/drawingml/2006/main">
            <a:pPr>
              <a:defRPr sz="2175" b="0" i="0">
                <a:solidFill>
                  <a:srgbClr val="0C1112"/>
                </a:solidFill>
                <a:latin typeface="Arial"/>
                <a:ea typeface="Arial"/>
                <a:cs typeface="Arial"/>
              </a:defRPr>
            </a:pPr>
            <a:r>
              <a:rPr sz="2175" b="0" i="0">
                <a:solidFill>
                  <a:srgbClr val="0C1112"/>
                </a:solidFill>
                <a:latin typeface="Arial"/>
                <a:ea typeface="Arial"/>
                <a:cs typeface="Arial"/>
              </a:rPr>
              <a:t>Measure completion and relevant choices.</a:t>
            </a:r>
          </a:p>
        </p:txBody>
      </p:sp>
      <p:sp>
        <p:nvSpPr>
          <p:cNvPr id="12" name="Code, README and submission deck">
            <a:extLst xmlns:a="http://schemas.openxmlformats.org/drawingml/2006/main">
              <a:ext uri="{FF2B5EF4-FFF2-40B4-BE49-F238E27FC236}">
                <a16:creationId xmlns:a16="http://schemas.microsoft.com/office/drawing/2014/main" id="{07E23B5B-43D2-4047-91D5-63421997C8B4}"/>
              </a:ext>
            </a:extLst>
          </p:cNvPr>
          <p:cNvSpPr>
            <a:spLocks xmlns:a="http://schemas.openxmlformats.org/drawingml/2006/main" noGrp="1"/>
          </p:cNvSpPr>
          <p:nvPr/>
        </p:nvSpPr>
        <p:spPr>
          <a:xfrm xmlns:a="http://schemas.openxmlformats.org/drawingml/2006/main">
            <a:off x="2038350" y="5457825"/>
            <a:ext cx="67913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0C1112"/>
                </a:solidFill>
                <a:latin typeface="Arial"/>
                <a:ea typeface="Arial"/>
                <a:cs typeface="Arial"/>
              </a:defRPr>
            </a:defPPr>
          </a:lstStyle>
          <a:p xmlns:a="http://schemas.openxmlformats.org/drawingml/2006/main">
            <a:pPr>
              <a:defRPr sz="1725" b="0" i="0">
                <a:solidFill>
                  <a:srgbClr val="0C1112"/>
                </a:solidFill>
                <a:latin typeface="Arial"/>
                <a:ea typeface="Arial"/>
                <a:cs typeface="Arial"/>
              </a:defRPr>
            </a:pPr>
            <a:r>
              <a:rPr sz="1725" b="0" i="0">
                <a:solidFill>
                  <a:srgbClr val="0C1112"/>
                </a:solidFill>
                <a:latin typeface="Arial"/>
                <a:ea typeface="Arial"/>
                <a:cs typeface="Arial"/>
              </a:rPr>
              <a:t>Code, README and submission deck</a:t>
            </a:r>
          </a:p>
        </p:txBody>
      </p:sp>
      <p:sp>
        <p:nvSpPr>
          <p:cNvPr id="13" name="github.com/MusayevAli/Pegasus">
            <a:extLst xmlns:a="http://schemas.openxmlformats.org/drawingml/2006/main">
              <a:ext uri="{FF2B5EF4-FFF2-40B4-BE49-F238E27FC236}">
                <a16:creationId xmlns:a16="http://schemas.microsoft.com/office/drawing/2014/main" id="{D18B32DA-7A86-4B48-B1A6-9383B5E8007E}"/>
              </a:ext>
            </a:extLst>
          </p:cNvPr>
          <p:cNvSpPr>
            <a:spLocks xmlns:a="http://schemas.openxmlformats.org/drawingml/2006/main" noGrp="1"/>
          </p:cNvSpPr>
          <p:nvPr/>
        </p:nvSpPr>
        <p:spPr>
          <a:xfrm xmlns:a="http://schemas.openxmlformats.org/drawingml/2006/main">
            <a:off x="2038350" y="5819775"/>
            <a:ext cx="6848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i="0">
                <a:solidFill>
                  <a:srgbClr val="0C1112"/>
                </a:solidFill>
                <a:latin typeface="Arial"/>
                <a:ea typeface="Arial"/>
                <a:cs typeface="Arial"/>
              </a:defRPr>
            </a:defPPr>
          </a:lstStyle>
          <a:p xmlns:a="http://schemas.openxmlformats.org/drawingml/2006/main">
            <a:pPr>
              <a:defRPr sz="1950" b="1" i="0">
                <a:solidFill>
                  <a:srgbClr val="0C1112"/>
                </a:solidFill>
                <a:latin typeface="Arial"/>
                <a:ea typeface="Arial"/>
                <a:cs typeface="Arial"/>
              </a:defRPr>
            </a:pPr>
            <a:r>
              <a:rPr sz="1950" b="1" i="0">
                <a:solidFill>
                  <a:srgbClr val="0C1112"/>
                </a:solidFill>
                <a:latin typeface="Arial"/>
                <a:ea typeface="Arial"/>
                <a:cs typeface="Arial"/>
                <a:hlinkClick xmlns:r="http://schemas.openxmlformats.org/officeDocument/2006/relationships" r:id="R75d387d023914acd"/>
              </a:rPr>
              <a:t>github.com/MusayevAli/Pegasus</a:t>
            </a:r>
          </a:p>
        </p:txBody>
      </p:sp>
      <p:pic>
        <p:nvPicPr>
          <p:cNvPr id="14" name="">
            <a:extLst xmlns:a="http://schemas.openxmlformats.org/drawingml/2006/main">
              <a:ext uri="{FF2B5EF4-FFF2-40B4-BE49-F238E27FC236}">
                <a16:creationId xmlns:a16="http://schemas.microsoft.com/office/drawing/2014/main" id="{5FB8C2FC-F1C6-47B3-B7F0-2511B450B157}"/>
              </a:ext>
            </a:extLst>
          </p:cNvPr>
          <p:cNvPicPr>
            <a:picLocks xmlns:a="http://schemas.openxmlformats.org/drawingml/2006/main" noChangeAspect="1"/>
          </p:cNvPicPr>
          <p:nvPr/>
        </p:nvPicPr>
        <p:blipFill>
          <a:blip xmlns:r="http://schemas.openxmlformats.org/officeDocument/2006/relationships" xmlns:a="http://schemas.openxmlformats.org/drawingml/2006/main" r:embed="Rae2b9e48107346a3"/>
          <a:srcRect xmlns:a="http://schemas.openxmlformats.org/drawingml/2006/main" l="6092" t="8539" r="5862" b="1933"/>
          <a:stretch xmlns:a="http://schemas.openxmlformats.org/drawingml/2006/main"/>
        </p:blipFill>
        <p:spPr>
          <a:xfrm xmlns:a="http://schemas.openxmlformats.org/drawingml/2006/main">
            <a:off x="9296400" y="1438275"/>
            <a:ext cx="2152650" cy="4676775"/>
          </a:xfrm>
          <a:prstGeom xmlns:a="http://schemas.openxmlformats.org/drawingml/2006/main" prst="roundRect">
            <a:avLst>
              <a:gd name="adj" fmla="val 15044"/>
            </a:avLst>
          </a:prstGeom>
        </p:spPr>
      </p:pic>
      <p:sp>
        <p:nvSpPr>
          <p:cNvPr id="15" name="Hackathon prototype. Demo confirmation shown. Auth">
            <a:extLst xmlns:a="http://schemas.openxmlformats.org/drawingml/2006/main">
              <a:ext uri="{FF2B5EF4-FFF2-40B4-BE49-F238E27FC236}">
                <a16:creationId xmlns:a16="http://schemas.microsoft.com/office/drawing/2014/main" id="{8A727948-6D31-4ECF-93CD-6389C9FA4943}"/>
              </a:ext>
            </a:extLst>
          </p:cNvPr>
          <p:cNvSpPr>
            <a:spLocks xmlns:a="http://schemas.openxmlformats.org/drawingml/2006/main" noGrp="1"/>
          </p:cNvSpPr>
          <p:nvPr/>
        </p:nvSpPr>
        <p:spPr>
          <a:xfrm xmlns:a="http://schemas.openxmlformats.org/drawingml/2006/main">
            <a:off x="2028825" y="62293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343D42"/>
                </a:solidFill>
                <a:latin typeface="Arial"/>
                <a:ea typeface="Arial"/>
                <a:cs typeface="Arial"/>
              </a:defRPr>
            </a:defPPr>
          </a:lstStyle>
          <a:p xmlns:a="http://schemas.openxmlformats.org/drawingml/2006/main">
            <a:pPr>
              <a:defRPr sz="1050" b="0" i="0">
                <a:solidFill>
                  <a:srgbClr val="343D42"/>
                </a:solidFill>
                <a:latin typeface="Arial"/>
                <a:ea typeface="Arial"/>
                <a:cs typeface="Arial"/>
              </a:defRPr>
            </a:pPr>
            <a:r>
              <a:rPr sz="1050" b="0" i="0">
                <a:solidFill>
                  <a:srgbClr val="343D42"/>
                </a:solidFill>
                <a:latin typeface="Arial"/>
                <a:ea typeface="Arial"/>
                <a:cs typeface="Arial"/>
              </a:rPr>
              <a:t>Hackathon prototype. Demo confirmation shown. Authorised extras, payment and ticketing integration remains required.</a:t>
            </a:r>
          </a:p>
        </p:txBody>
      </p:sp>
    </p:spTree>
    <p:extLst>
      <p:ext uri="{BB962C8B-B14F-4D97-AF65-F5344CB8AC3E}">
        <p14:creationId xmlns:p14="http://schemas.microsoft.com/office/powerpoint/2010/main" val="8408301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2026-10-09T06:48:08.6790000Z</dcterms:created>
  <dcterms:modified xsi:type="dcterms:W3CDTF">2026-10-09T06:48:08.6790000Z</dcterms:modified>
</coreProperties>
</file>